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71" r:id="rId11"/>
    <p:sldId id="265" r:id="rId13"/>
    <p:sldId id="266" r:id="rId14"/>
    <p:sldId id="267" r:id="rId15"/>
    <p:sldId id="268" r:id="rId16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943" y="1143000"/>
            <a:ext cx="5486114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10195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783080"/>
            <a:ext cx="314960" cy="314960"/>
          </a:xfrm>
          <a:prstGeom prst="rect">
            <a:avLst/>
          </a:prstGeom>
          <a:solidFill>
            <a:srgbClr val="FFFFFF"/>
          </a:solidFill>
          <a:ln w="508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7880" y="1783080"/>
            <a:ext cx="314960" cy="314960"/>
          </a:xfrm>
          <a:prstGeom prst="rect">
            <a:avLst/>
          </a:prstGeom>
          <a:solidFill>
            <a:srgbClr val="FFFFFF"/>
          </a:solidFill>
          <a:ln w="508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32840" y="1783080"/>
            <a:ext cx="314960" cy="314960"/>
          </a:xfrm>
          <a:prstGeom prst="rect">
            <a:avLst/>
          </a:prstGeom>
          <a:solidFill>
            <a:srgbClr val="FFFFFF"/>
          </a:solidFill>
          <a:ln w="508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447800" y="1783080"/>
            <a:ext cx="314960" cy="314960"/>
          </a:xfrm>
          <a:prstGeom prst="rect">
            <a:avLst/>
          </a:prstGeom>
          <a:solidFill>
            <a:srgbClr val="FFFFFF"/>
          </a:solidFill>
          <a:ln w="508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762760" y="1783080"/>
            <a:ext cx="314960" cy="314960"/>
          </a:xfrm>
          <a:prstGeom prst="rect">
            <a:avLst/>
          </a:prstGeom>
          <a:solidFill>
            <a:srgbClr val="FFFFFF"/>
          </a:solidFill>
          <a:ln w="508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077720" y="1783080"/>
            <a:ext cx="314960" cy="314960"/>
          </a:xfrm>
          <a:prstGeom prst="rect">
            <a:avLst/>
          </a:prstGeom>
          <a:solidFill>
            <a:srgbClr val="FFFFFF"/>
          </a:solidFill>
          <a:ln w="508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392679" y="1783080"/>
            <a:ext cx="314960" cy="314960"/>
          </a:xfrm>
          <a:prstGeom prst="rect">
            <a:avLst/>
          </a:prstGeom>
          <a:solidFill>
            <a:srgbClr val="FFFFFF"/>
          </a:solidFill>
          <a:ln w="508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07640" y="1783080"/>
            <a:ext cx="314960" cy="314960"/>
          </a:xfrm>
          <a:prstGeom prst="rect">
            <a:avLst/>
          </a:prstGeom>
          <a:solidFill>
            <a:srgbClr val="FFFFFF"/>
          </a:solidFill>
          <a:ln w="508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022600" y="1783080"/>
            <a:ext cx="314960" cy="314960"/>
          </a:xfrm>
          <a:prstGeom prst="rect">
            <a:avLst/>
          </a:prstGeom>
          <a:solidFill>
            <a:srgbClr val="FFFFFF"/>
          </a:solidFill>
          <a:ln w="508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2098040"/>
            <a:ext cx="314960" cy="314960"/>
          </a:xfrm>
          <a:prstGeom prst="rect">
            <a:avLst/>
          </a:prstGeom>
          <a:solidFill>
            <a:srgbClr val="FFFFFF"/>
          </a:solidFill>
          <a:ln w="508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7880" y="2098040"/>
            <a:ext cx="314960" cy="314960"/>
          </a:xfrm>
          <a:prstGeom prst="rect">
            <a:avLst/>
          </a:prstGeom>
          <a:solidFill>
            <a:srgbClr val="FFFFFF"/>
          </a:solidFill>
          <a:ln w="508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32840" y="2098040"/>
            <a:ext cx="314960" cy="314960"/>
          </a:xfrm>
          <a:prstGeom prst="rect">
            <a:avLst/>
          </a:prstGeom>
          <a:solidFill>
            <a:srgbClr val="FFFFFF"/>
          </a:solidFill>
          <a:ln w="508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447800" y="2098040"/>
            <a:ext cx="314960" cy="314960"/>
          </a:xfrm>
          <a:prstGeom prst="rect">
            <a:avLst/>
          </a:prstGeom>
          <a:solidFill>
            <a:srgbClr val="FFFFFF"/>
          </a:solidFill>
          <a:ln w="508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62760" y="2098040"/>
            <a:ext cx="314960" cy="314960"/>
          </a:xfrm>
          <a:prstGeom prst="rect">
            <a:avLst/>
          </a:prstGeom>
          <a:solidFill>
            <a:srgbClr val="FFFFFF"/>
          </a:solidFill>
          <a:ln w="508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077720" y="2098040"/>
            <a:ext cx="314960" cy="314960"/>
          </a:xfrm>
          <a:prstGeom prst="rect">
            <a:avLst/>
          </a:prstGeom>
          <a:solidFill>
            <a:srgbClr val="FFFFFF"/>
          </a:solidFill>
          <a:ln w="508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392679" y="2098040"/>
            <a:ext cx="314960" cy="314960"/>
          </a:xfrm>
          <a:prstGeom prst="rect">
            <a:avLst/>
          </a:prstGeom>
          <a:solidFill>
            <a:srgbClr val="FFFFFF"/>
          </a:solidFill>
          <a:ln w="508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07640" y="2098040"/>
            <a:ext cx="314960" cy="314960"/>
          </a:xfrm>
          <a:prstGeom prst="rect">
            <a:avLst/>
          </a:prstGeom>
          <a:solidFill>
            <a:srgbClr val="FFFFFF"/>
          </a:solidFill>
          <a:ln w="508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022600" y="2098040"/>
            <a:ext cx="314960" cy="314960"/>
          </a:xfrm>
          <a:prstGeom prst="rect">
            <a:avLst/>
          </a:prstGeom>
          <a:solidFill>
            <a:srgbClr val="FFFFFF"/>
          </a:solidFill>
          <a:ln w="508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2413000"/>
            <a:ext cx="314960" cy="314960"/>
          </a:xfrm>
          <a:prstGeom prst="rect">
            <a:avLst/>
          </a:prstGeom>
          <a:solidFill>
            <a:srgbClr val="FFFFFF"/>
          </a:solidFill>
          <a:ln w="508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7880" y="2413000"/>
            <a:ext cx="314960" cy="314960"/>
          </a:xfrm>
          <a:prstGeom prst="rect">
            <a:avLst/>
          </a:prstGeom>
          <a:solidFill>
            <a:srgbClr val="FFFFFF"/>
          </a:solidFill>
          <a:ln w="508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32840" y="2413000"/>
            <a:ext cx="314960" cy="314960"/>
          </a:xfrm>
          <a:prstGeom prst="rect">
            <a:avLst/>
          </a:prstGeom>
          <a:solidFill>
            <a:srgbClr val="FFFFFF"/>
          </a:solidFill>
          <a:ln w="508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447800" y="2413000"/>
            <a:ext cx="314960" cy="314960"/>
          </a:xfrm>
          <a:prstGeom prst="rect">
            <a:avLst/>
          </a:prstGeom>
          <a:solidFill>
            <a:srgbClr val="FFFFFF"/>
          </a:solidFill>
          <a:ln w="508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762760" y="2413000"/>
            <a:ext cx="314960" cy="314960"/>
          </a:xfrm>
          <a:prstGeom prst="rect">
            <a:avLst/>
          </a:prstGeom>
          <a:solidFill>
            <a:srgbClr val="FFFFFF"/>
          </a:solidFill>
          <a:ln w="508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077720" y="2413000"/>
            <a:ext cx="314960" cy="314960"/>
          </a:xfrm>
          <a:prstGeom prst="rect">
            <a:avLst/>
          </a:prstGeom>
          <a:solidFill>
            <a:srgbClr val="FFFFFF"/>
          </a:solidFill>
          <a:ln w="508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392679" y="2413000"/>
            <a:ext cx="314960" cy="314960"/>
          </a:xfrm>
          <a:prstGeom prst="rect">
            <a:avLst/>
          </a:prstGeom>
          <a:solidFill>
            <a:srgbClr val="FFFFFF"/>
          </a:solidFill>
          <a:ln w="508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707640" y="2413000"/>
            <a:ext cx="314960" cy="314960"/>
          </a:xfrm>
          <a:prstGeom prst="rect">
            <a:avLst/>
          </a:prstGeom>
          <a:solidFill>
            <a:srgbClr val="FFFFFF"/>
          </a:solidFill>
          <a:ln w="508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022600" y="2413000"/>
            <a:ext cx="314960" cy="314960"/>
          </a:xfrm>
          <a:prstGeom prst="rect">
            <a:avLst/>
          </a:prstGeom>
          <a:solidFill>
            <a:srgbClr val="FFFFFF"/>
          </a:solidFill>
          <a:ln w="508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2920" y="2727960"/>
            <a:ext cx="314960" cy="314960"/>
          </a:xfrm>
          <a:prstGeom prst="rect">
            <a:avLst/>
          </a:prstGeom>
          <a:solidFill>
            <a:srgbClr val="FFFFFF"/>
          </a:solidFill>
          <a:ln w="508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7880" y="2727960"/>
            <a:ext cx="314960" cy="314960"/>
          </a:xfrm>
          <a:prstGeom prst="rect">
            <a:avLst/>
          </a:prstGeom>
          <a:solidFill>
            <a:srgbClr val="FFFFFF"/>
          </a:solidFill>
          <a:ln w="508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132840" y="2727960"/>
            <a:ext cx="314960" cy="314960"/>
          </a:xfrm>
          <a:prstGeom prst="rect">
            <a:avLst/>
          </a:prstGeom>
          <a:solidFill>
            <a:srgbClr val="FFFFFF"/>
          </a:solidFill>
          <a:ln w="508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447800" y="2727960"/>
            <a:ext cx="314960" cy="314960"/>
          </a:xfrm>
          <a:prstGeom prst="rect">
            <a:avLst/>
          </a:prstGeom>
          <a:solidFill>
            <a:srgbClr val="FFFFFF"/>
          </a:solidFill>
          <a:ln w="508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762760" y="2727960"/>
            <a:ext cx="314960" cy="314960"/>
          </a:xfrm>
          <a:prstGeom prst="rect">
            <a:avLst/>
          </a:prstGeom>
          <a:solidFill>
            <a:srgbClr val="FFFFFF"/>
          </a:solidFill>
          <a:ln w="508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077720" y="2727960"/>
            <a:ext cx="314960" cy="314960"/>
          </a:xfrm>
          <a:prstGeom prst="rect">
            <a:avLst/>
          </a:prstGeom>
          <a:solidFill>
            <a:srgbClr val="FFFFFF"/>
          </a:solidFill>
          <a:ln w="508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392679" y="2727960"/>
            <a:ext cx="314960" cy="314960"/>
          </a:xfrm>
          <a:prstGeom prst="rect">
            <a:avLst/>
          </a:prstGeom>
          <a:solidFill>
            <a:srgbClr val="FFFFFF"/>
          </a:solidFill>
          <a:ln w="508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707640" y="2727960"/>
            <a:ext cx="314960" cy="314960"/>
          </a:xfrm>
          <a:prstGeom prst="rect">
            <a:avLst/>
          </a:prstGeom>
          <a:solidFill>
            <a:srgbClr val="FFFFFF"/>
          </a:solidFill>
          <a:ln w="508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022600" y="2727960"/>
            <a:ext cx="314960" cy="314960"/>
          </a:xfrm>
          <a:prstGeom prst="rect">
            <a:avLst/>
          </a:prstGeom>
          <a:solidFill>
            <a:srgbClr val="FFFFFF"/>
          </a:solidFill>
          <a:ln w="508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02920" y="3042919"/>
            <a:ext cx="314960" cy="314960"/>
          </a:xfrm>
          <a:prstGeom prst="rect">
            <a:avLst/>
          </a:prstGeom>
          <a:solidFill>
            <a:srgbClr val="FFFFFF"/>
          </a:solidFill>
          <a:ln w="508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17880" y="3042919"/>
            <a:ext cx="314960" cy="314960"/>
          </a:xfrm>
          <a:prstGeom prst="rect">
            <a:avLst/>
          </a:prstGeom>
          <a:solidFill>
            <a:srgbClr val="FFFFFF"/>
          </a:solidFill>
          <a:ln w="508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132840" y="3042919"/>
            <a:ext cx="314960" cy="314960"/>
          </a:xfrm>
          <a:prstGeom prst="rect">
            <a:avLst/>
          </a:prstGeom>
          <a:solidFill>
            <a:srgbClr val="FFFFFF"/>
          </a:solidFill>
          <a:ln w="508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447800" y="3042919"/>
            <a:ext cx="314960" cy="314960"/>
          </a:xfrm>
          <a:prstGeom prst="rect">
            <a:avLst/>
          </a:prstGeom>
          <a:solidFill>
            <a:srgbClr val="FFFFFF"/>
          </a:solidFill>
          <a:ln w="508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762760" y="3042919"/>
            <a:ext cx="314960" cy="314960"/>
          </a:xfrm>
          <a:prstGeom prst="rect">
            <a:avLst/>
          </a:prstGeom>
          <a:solidFill>
            <a:srgbClr val="FFFFFF"/>
          </a:solidFill>
          <a:ln w="508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077720" y="3042919"/>
            <a:ext cx="314960" cy="314960"/>
          </a:xfrm>
          <a:prstGeom prst="rect">
            <a:avLst/>
          </a:prstGeom>
          <a:solidFill>
            <a:srgbClr val="FFFFFF"/>
          </a:solidFill>
          <a:ln w="508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392679" y="3042919"/>
            <a:ext cx="314960" cy="314960"/>
          </a:xfrm>
          <a:prstGeom prst="rect">
            <a:avLst/>
          </a:prstGeom>
          <a:solidFill>
            <a:srgbClr val="FFFFFF"/>
          </a:solidFill>
          <a:ln w="508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707640" y="3042919"/>
            <a:ext cx="314960" cy="314960"/>
          </a:xfrm>
          <a:prstGeom prst="rect">
            <a:avLst/>
          </a:prstGeom>
          <a:solidFill>
            <a:srgbClr val="FFFFFF"/>
          </a:solidFill>
          <a:ln w="508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022600" y="3042919"/>
            <a:ext cx="314960" cy="314960"/>
          </a:xfrm>
          <a:prstGeom prst="rect">
            <a:avLst/>
          </a:prstGeom>
          <a:solidFill>
            <a:srgbClr val="FFFFFF"/>
          </a:solidFill>
          <a:ln w="508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02920" y="3357880"/>
            <a:ext cx="314960" cy="314960"/>
          </a:xfrm>
          <a:prstGeom prst="rect">
            <a:avLst/>
          </a:prstGeom>
          <a:solidFill>
            <a:srgbClr val="FFFFFF"/>
          </a:solidFill>
          <a:ln w="508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17880" y="3357880"/>
            <a:ext cx="314960" cy="314960"/>
          </a:xfrm>
          <a:prstGeom prst="rect">
            <a:avLst/>
          </a:prstGeom>
          <a:solidFill>
            <a:srgbClr val="FFFFFF"/>
          </a:solidFill>
          <a:ln w="508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132840" y="3357880"/>
            <a:ext cx="314960" cy="314960"/>
          </a:xfrm>
          <a:prstGeom prst="rect">
            <a:avLst/>
          </a:prstGeom>
          <a:solidFill>
            <a:srgbClr val="FFFFFF"/>
          </a:solidFill>
          <a:ln w="508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447800" y="3357880"/>
            <a:ext cx="314960" cy="314960"/>
          </a:xfrm>
          <a:prstGeom prst="rect">
            <a:avLst/>
          </a:prstGeom>
          <a:solidFill>
            <a:srgbClr val="FFFFFF"/>
          </a:solidFill>
          <a:ln w="508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762760" y="3357880"/>
            <a:ext cx="314960" cy="314960"/>
          </a:xfrm>
          <a:prstGeom prst="rect">
            <a:avLst/>
          </a:prstGeom>
          <a:solidFill>
            <a:srgbClr val="FFFFFF"/>
          </a:solidFill>
          <a:ln w="508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2077720" y="3357880"/>
            <a:ext cx="314960" cy="314960"/>
          </a:xfrm>
          <a:prstGeom prst="rect">
            <a:avLst/>
          </a:prstGeom>
          <a:solidFill>
            <a:srgbClr val="FFFFFF"/>
          </a:solidFill>
          <a:ln w="508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392679" y="3357880"/>
            <a:ext cx="314960" cy="314960"/>
          </a:xfrm>
          <a:prstGeom prst="rect">
            <a:avLst/>
          </a:prstGeom>
          <a:solidFill>
            <a:srgbClr val="FFFFFF"/>
          </a:solidFill>
          <a:ln w="508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707640" y="3357880"/>
            <a:ext cx="314960" cy="314960"/>
          </a:xfrm>
          <a:prstGeom prst="rect">
            <a:avLst/>
          </a:prstGeom>
          <a:solidFill>
            <a:srgbClr val="FFFFFF"/>
          </a:solidFill>
          <a:ln w="508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022600" y="3357880"/>
            <a:ext cx="314960" cy="314960"/>
          </a:xfrm>
          <a:prstGeom prst="rect">
            <a:avLst/>
          </a:prstGeom>
          <a:solidFill>
            <a:srgbClr val="FFFFFF"/>
          </a:solidFill>
          <a:ln w="508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02920" y="3672840"/>
            <a:ext cx="314960" cy="314960"/>
          </a:xfrm>
          <a:prstGeom prst="rect">
            <a:avLst/>
          </a:prstGeom>
          <a:solidFill>
            <a:srgbClr val="FFFFFF"/>
          </a:solidFill>
          <a:ln w="508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817880" y="3672840"/>
            <a:ext cx="314960" cy="314960"/>
          </a:xfrm>
          <a:prstGeom prst="rect">
            <a:avLst/>
          </a:prstGeom>
          <a:solidFill>
            <a:srgbClr val="FFFFFF"/>
          </a:solidFill>
          <a:ln w="508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132840" y="3672840"/>
            <a:ext cx="314960" cy="314960"/>
          </a:xfrm>
          <a:prstGeom prst="rect">
            <a:avLst/>
          </a:prstGeom>
          <a:solidFill>
            <a:srgbClr val="FFFFFF"/>
          </a:solidFill>
          <a:ln w="508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447800" y="3672840"/>
            <a:ext cx="314960" cy="314960"/>
          </a:xfrm>
          <a:prstGeom prst="rect">
            <a:avLst/>
          </a:prstGeom>
          <a:solidFill>
            <a:srgbClr val="FFFFFF"/>
          </a:solidFill>
          <a:ln w="508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762760" y="3672840"/>
            <a:ext cx="314960" cy="314960"/>
          </a:xfrm>
          <a:prstGeom prst="rect">
            <a:avLst/>
          </a:prstGeom>
          <a:solidFill>
            <a:srgbClr val="FFFFFF"/>
          </a:solidFill>
          <a:ln w="508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2077720" y="3672840"/>
            <a:ext cx="314960" cy="314960"/>
          </a:xfrm>
          <a:prstGeom prst="rect">
            <a:avLst/>
          </a:prstGeom>
          <a:solidFill>
            <a:srgbClr val="FFFFFF"/>
          </a:solidFill>
          <a:ln w="508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2392679" y="3672840"/>
            <a:ext cx="314960" cy="314960"/>
          </a:xfrm>
          <a:prstGeom prst="rect">
            <a:avLst/>
          </a:prstGeom>
          <a:solidFill>
            <a:srgbClr val="FFFFFF"/>
          </a:solidFill>
          <a:ln w="508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2707640" y="3672840"/>
            <a:ext cx="314960" cy="314960"/>
          </a:xfrm>
          <a:prstGeom prst="rect">
            <a:avLst/>
          </a:prstGeom>
          <a:solidFill>
            <a:srgbClr val="FFFFFF"/>
          </a:solidFill>
          <a:ln w="508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3022600" y="3672840"/>
            <a:ext cx="314960" cy="314960"/>
          </a:xfrm>
          <a:prstGeom prst="rect">
            <a:avLst/>
          </a:prstGeom>
          <a:solidFill>
            <a:srgbClr val="FFFFFF"/>
          </a:solidFill>
          <a:ln w="508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02920" y="3987799"/>
            <a:ext cx="314960" cy="314960"/>
          </a:xfrm>
          <a:prstGeom prst="rect">
            <a:avLst/>
          </a:prstGeom>
          <a:solidFill>
            <a:srgbClr val="FFFFFF"/>
          </a:solidFill>
          <a:ln w="508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817880" y="3987799"/>
            <a:ext cx="314960" cy="314960"/>
          </a:xfrm>
          <a:prstGeom prst="rect">
            <a:avLst/>
          </a:prstGeom>
          <a:solidFill>
            <a:srgbClr val="FFFFFF"/>
          </a:solidFill>
          <a:ln w="508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132840" y="3987799"/>
            <a:ext cx="314960" cy="314960"/>
          </a:xfrm>
          <a:prstGeom prst="rect">
            <a:avLst/>
          </a:prstGeom>
          <a:solidFill>
            <a:srgbClr val="FFFFFF"/>
          </a:solidFill>
          <a:ln w="508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447800" y="3987799"/>
            <a:ext cx="314960" cy="314960"/>
          </a:xfrm>
          <a:prstGeom prst="rect">
            <a:avLst/>
          </a:prstGeom>
          <a:solidFill>
            <a:srgbClr val="FFFFFF"/>
          </a:solidFill>
          <a:ln w="508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762760" y="3987799"/>
            <a:ext cx="314960" cy="314960"/>
          </a:xfrm>
          <a:prstGeom prst="rect">
            <a:avLst/>
          </a:prstGeom>
          <a:solidFill>
            <a:srgbClr val="FFFFFF"/>
          </a:solidFill>
          <a:ln w="508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2077720" y="3987799"/>
            <a:ext cx="314960" cy="314960"/>
          </a:xfrm>
          <a:prstGeom prst="rect">
            <a:avLst/>
          </a:prstGeom>
          <a:solidFill>
            <a:srgbClr val="FFFFFF"/>
          </a:solidFill>
          <a:ln w="508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2392679" y="3987799"/>
            <a:ext cx="314960" cy="314960"/>
          </a:xfrm>
          <a:prstGeom prst="rect">
            <a:avLst/>
          </a:prstGeom>
          <a:solidFill>
            <a:srgbClr val="FFFFFF"/>
          </a:solidFill>
          <a:ln w="508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2707640" y="3987799"/>
            <a:ext cx="314960" cy="314960"/>
          </a:xfrm>
          <a:prstGeom prst="rect">
            <a:avLst/>
          </a:prstGeom>
          <a:solidFill>
            <a:srgbClr val="FFFFFF"/>
          </a:solidFill>
          <a:ln w="508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3022600" y="3987799"/>
            <a:ext cx="314960" cy="314960"/>
          </a:xfrm>
          <a:prstGeom prst="rect">
            <a:avLst/>
          </a:prstGeom>
          <a:solidFill>
            <a:srgbClr val="FFFFFF"/>
          </a:solidFill>
          <a:ln w="508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502920" y="4302760"/>
            <a:ext cx="314960" cy="314960"/>
          </a:xfrm>
          <a:prstGeom prst="rect">
            <a:avLst/>
          </a:prstGeom>
          <a:solidFill>
            <a:srgbClr val="FFFFFF"/>
          </a:solidFill>
          <a:ln w="508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817880" y="4302760"/>
            <a:ext cx="314960" cy="314960"/>
          </a:xfrm>
          <a:prstGeom prst="rect">
            <a:avLst/>
          </a:prstGeom>
          <a:solidFill>
            <a:srgbClr val="FFFFFF"/>
          </a:solidFill>
          <a:ln w="508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1132840" y="4302760"/>
            <a:ext cx="314960" cy="314960"/>
          </a:xfrm>
          <a:prstGeom prst="rect">
            <a:avLst/>
          </a:prstGeom>
          <a:solidFill>
            <a:srgbClr val="FFFFFF"/>
          </a:solidFill>
          <a:ln w="508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1447800" y="4302760"/>
            <a:ext cx="314960" cy="314960"/>
          </a:xfrm>
          <a:prstGeom prst="rect">
            <a:avLst/>
          </a:prstGeom>
          <a:solidFill>
            <a:srgbClr val="FFFFFF"/>
          </a:solidFill>
          <a:ln w="508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1762760" y="4302760"/>
            <a:ext cx="314960" cy="314960"/>
          </a:xfrm>
          <a:prstGeom prst="rect">
            <a:avLst/>
          </a:prstGeom>
          <a:solidFill>
            <a:srgbClr val="FFFFFF"/>
          </a:solidFill>
          <a:ln w="508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2077720" y="4302760"/>
            <a:ext cx="314960" cy="314960"/>
          </a:xfrm>
          <a:prstGeom prst="rect">
            <a:avLst/>
          </a:prstGeom>
          <a:solidFill>
            <a:srgbClr val="FFFFFF"/>
          </a:solidFill>
          <a:ln w="508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2392679" y="4302760"/>
            <a:ext cx="314960" cy="314960"/>
          </a:xfrm>
          <a:prstGeom prst="rect">
            <a:avLst/>
          </a:prstGeom>
          <a:solidFill>
            <a:srgbClr val="FFFFFF"/>
          </a:solidFill>
          <a:ln w="508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2707640" y="4302760"/>
            <a:ext cx="314960" cy="314960"/>
          </a:xfrm>
          <a:prstGeom prst="rect">
            <a:avLst/>
          </a:prstGeom>
          <a:solidFill>
            <a:srgbClr val="FFFFFF"/>
          </a:solidFill>
          <a:ln w="508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3022600" y="4302760"/>
            <a:ext cx="314960" cy="314960"/>
          </a:xfrm>
          <a:prstGeom prst="rect">
            <a:avLst/>
          </a:prstGeom>
          <a:solidFill>
            <a:srgbClr val="FFFFFF"/>
          </a:solidFill>
          <a:ln w="508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02920" y="1787651"/>
            <a:ext cx="314960" cy="314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4233C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17880" y="1787651"/>
            <a:ext cx="314960" cy="314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4233C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762760" y="1787651"/>
            <a:ext cx="314960" cy="314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4233C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02920" y="2102611"/>
            <a:ext cx="314960" cy="314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4233C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447800" y="2102611"/>
            <a:ext cx="314960" cy="314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4233C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762760" y="2102611"/>
            <a:ext cx="314960" cy="314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4233C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077720" y="2102611"/>
            <a:ext cx="314960" cy="314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4233C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17880" y="2417572"/>
            <a:ext cx="314960" cy="314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4233C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132840" y="2417572"/>
            <a:ext cx="314960" cy="314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4233C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707640" y="2417572"/>
            <a:ext cx="314960" cy="314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4233C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02920" y="2732532"/>
            <a:ext cx="314960" cy="314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4233C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762760" y="2732532"/>
            <a:ext cx="314960" cy="314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4233C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022600" y="2732532"/>
            <a:ext cx="314960" cy="314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4233C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02920" y="3047491"/>
            <a:ext cx="314960" cy="314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4233C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447800" y="3047491"/>
            <a:ext cx="314960" cy="314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4233C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077720" y="3047491"/>
            <a:ext cx="314960" cy="314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4233C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022600" y="3047491"/>
            <a:ext cx="314960" cy="314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4233C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02920" y="3362452"/>
            <a:ext cx="314960" cy="314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4233C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762760" y="3362452"/>
            <a:ext cx="314960" cy="314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4233C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022600" y="3362452"/>
            <a:ext cx="314960" cy="314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4233C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17880" y="3677412"/>
            <a:ext cx="314960" cy="314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4233C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2392679" y="3677412"/>
            <a:ext cx="314960" cy="314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4233C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2707640" y="3677412"/>
            <a:ext cx="314960" cy="314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4233C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447800" y="3992371"/>
            <a:ext cx="314960" cy="314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4233C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762760" y="3992371"/>
            <a:ext cx="314960" cy="314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4233C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2077720" y="3992371"/>
            <a:ext cx="314960" cy="314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4233C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3022600" y="3992371"/>
            <a:ext cx="314960" cy="314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4233C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762760" y="4307332"/>
            <a:ext cx="314960" cy="314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4233C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2707640" y="4307332"/>
            <a:ext cx="314960" cy="314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4233C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3022600" y="4307332"/>
            <a:ext cx="314960" cy="314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4233C"/>
                </a:solidFill>
                <a:latin typeface="Aptos"/>
              </a:defRPr>
            </a:pPr>
            <a:r>
              <a:t>9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502920" y="1783080"/>
            <a:ext cx="0" cy="2834640"/>
          </a:xfrm>
          <a:prstGeom prst="line">
            <a:avLst/>
          </a:prstGeom>
          <a:ln w="25400">
            <a:solidFill>
              <a:srgbClr val="1423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502920" y="1783080"/>
            <a:ext cx="2834640" cy="0"/>
          </a:xfrm>
          <a:prstGeom prst="line">
            <a:avLst/>
          </a:prstGeom>
          <a:ln w="25400">
            <a:solidFill>
              <a:srgbClr val="1423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1447800" y="1783080"/>
            <a:ext cx="0" cy="2834640"/>
          </a:xfrm>
          <a:prstGeom prst="line">
            <a:avLst/>
          </a:prstGeom>
          <a:ln w="25400">
            <a:solidFill>
              <a:srgbClr val="1423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502920" y="2727960"/>
            <a:ext cx="2834640" cy="0"/>
          </a:xfrm>
          <a:prstGeom prst="line">
            <a:avLst/>
          </a:prstGeom>
          <a:ln w="25400">
            <a:solidFill>
              <a:srgbClr val="1423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2392679" y="1783080"/>
            <a:ext cx="0" cy="2834640"/>
          </a:xfrm>
          <a:prstGeom prst="line">
            <a:avLst/>
          </a:prstGeom>
          <a:ln w="25400">
            <a:solidFill>
              <a:srgbClr val="1423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502920" y="3672840"/>
            <a:ext cx="2834640" cy="0"/>
          </a:xfrm>
          <a:prstGeom prst="line">
            <a:avLst/>
          </a:prstGeom>
          <a:ln w="25400">
            <a:solidFill>
              <a:srgbClr val="1423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3337560" y="1783080"/>
            <a:ext cx="0" cy="2834640"/>
          </a:xfrm>
          <a:prstGeom prst="line">
            <a:avLst/>
          </a:prstGeom>
          <a:ln w="25400">
            <a:solidFill>
              <a:srgbClr val="1423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502920" y="4617720"/>
            <a:ext cx="2834640" cy="0"/>
          </a:xfrm>
          <a:prstGeom prst="line">
            <a:avLst/>
          </a:prstGeom>
          <a:ln w="25400">
            <a:solidFill>
              <a:srgbClr val="1423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TextBox 122"/>
          <p:cNvSpPr txBox="1"/>
          <p:nvPr/>
        </p:nvSpPr>
        <p:spPr>
          <a:xfrm>
            <a:off x="4343400" y="1234440"/>
            <a:ext cx="8758555" cy="1214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400" b="1">
                <a:solidFill>
                  <a:srgbClr val="14233C"/>
                </a:solidFill>
                <a:latin typeface="Aptos Display"/>
              </a:defRPr>
            </a:pPr>
            <a:r>
              <a:t>ADAPTIVE</a:t>
            </a:r>
            <a:r>
              <a:rPr lang="en-US"/>
              <a:t> </a:t>
            </a:r>
            <a:r>
              <a:t>SUDOKU SOLVER</a:t>
            </a:r>
          </a:p>
          <a:p>
            <a:pPr>
              <a:defRPr sz="1700">
                <a:solidFill>
                  <a:srgbClr val="697078"/>
                </a:solidFill>
                <a:latin typeface="Aptos"/>
              </a:defRPr>
            </a:pPr>
            <a:r>
              <a:t>An AI-based solver that selects an appropriate search / CSP strategy based on </a:t>
            </a:r>
          </a:p>
          <a:p>
            <a:pPr>
              <a:defRPr sz="1700">
                <a:solidFill>
                  <a:srgbClr val="697078"/>
                </a:solidFill>
                <a:latin typeface="Aptos"/>
              </a:defRPr>
            </a:pPr>
            <a:r>
              <a:t>puzzle characteristics.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4389120" y="3337560"/>
            <a:ext cx="1783080" cy="438912"/>
          </a:xfrm>
          <a:prstGeom prst="roundRect">
            <a:avLst/>
          </a:prstGeom>
          <a:solidFill>
            <a:srgbClr val="2C6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CSP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6998335" y="3362325"/>
            <a:ext cx="1783080" cy="438912"/>
          </a:xfrm>
          <a:prstGeom prst="roundRect">
            <a:avLst/>
          </a:prstGeom>
          <a:solidFill>
            <a:srgbClr val="207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Heuristic Search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9692005" y="3362325"/>
            <a:ext cx="1783080" cy="438912"/>
          </a:xfrm>
          <a:prstGeom prst="roundRect">
            <a:avLst/>
          </a:prstGeom>
          <a:solidFill>
            <a:srgbClr val="E18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Local Search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449570" y="4747260"/>
            <a:ext cx="4879975" cy="119253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ctr">
              <a:defRPr sz="1500" b="1">
                <a:solidFill>
                  <a:srgbClr val="14233C"/>
                </a:solidFill>
                <a:latin typeface="Aptos"/>
              </a:defRPr>
            </a:pPr>
            <a:r>
              <a:rPr sz="1800"/>
              <a:t>Foundations of Artificial Intelligence Project</a:t>
            </a:r>
            <a:endParaRPr sz="1800"/>
          </a:p>
          <a:p>
            <a:pPr algn="ctr">
              <a:defRPr sz="1200">
                <a:solidFill>
                  <a:srgbClr val="697078"/>
                </a:solidFill>
                <a:latin typeface="Aptos"/>
              </a:defRPr>
            </a:pPr>
            <a:endParaRPr sz="1800"/>
          </a:p>
          <a:p>
            <a:pPr algn="ctr">
              <a:defRPr sz="1200">
                <a:solidFill>
                  <a:srgbClr val="697078"/>
                </a:solidFill>
                <a:latin typeface="Aptos"/>
              </a:defRPr>
            </a:pPr>
            <a:r>
              <a:rPr lang="en-US" sz="1600"/>
              <a:t>Bishal Sunar</a:t>
            </a:r>
            <a:endParaRPr lang="en-US" sz="1600"/>
          </a:p>
          <a:p>
            <a:pPr algn="ctr">
              <a:defRPr sz="1200">
                <a:solidFill>
                  <a:srgbClr val="697078"/>
                </a:solidFill>
                <a:latin typeface="Aptos"/>
              </a:defRPr>
            </a:pPr>
            <a:r>
              <a:rPr lang="en-US" sz="1600"/>
              <a:t>240701628</a:t>
            </a:r>
            <a:endParaRPr sz="1600"/>
          </a:p>
          <a:p>
            <a:pPr algn="ctr">
              <a:defRPr sz="1200">
                <a:solidFill>
                  <a:srgbClr val="697078"/>
                </a:solidFill>
                <a:latin typeface="Aptos"/>
              </a:defRPr>
            </a:pPr>
            <a:r>
              <a:rPr lang="en-US" sz="1600"/>
              <a:t>Computer Science Engineering</a:t>
            </a:r>
            <a:endParaRPr lang="en-US" sz="1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  <a:latin typeface="Aptos Display"/>
              </a:defRPr>
            </a:pPr>
            <a:r>
              <a:t>1. Abstract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10881360" cy="2208530"/>
          </a:xfrm>
          <a:prstGeom prst="roundRect">
            <a:avLst/>
          </a:prstGeom>
          <a:solidFill>
            <a:srgbClr val="FFFFFF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2625" y="1325880"/>
            <a:ext cx="76200" cy="2209800"/>
          </a:xfrm>
          <a:prstGeom prst="rect">
            <a:avLst/>
          </a:prstGeom>
          <a:solidFill>
            <a:srgbClr val="2C6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463039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33C"/>
                </a:solidFill>
                <a:latin typeface="Aptos"/>
              </a:defRPr>
            </a:pPr>
            <a:r>
              <a:t>Project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7095" y="1892935"/>
            <a:ext cx="10424160" cy="14782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just">
              <a:lnSpc>
                <a:spcPct val="150000"/>
              </a:lnSpc>
              <a:defRPr sz="1600">
                <a:solidFill>
                  <a:srgbClr val="282D32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Adaptive Sudoku Solver models a Sudoku puzzle as a Constraint Satisfaction Problem (CSP) and supports multiple solving strategies. Instead of applying one fixed algorithm to every puzzle, the system extracts structural features such as empty-cell count, candidate-domain sizes and branching characteristics, then selects an appropriate strategy. The project compares solver performance using execution time, search effort and backtracking/assignment counts.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85800" y="4151630"/>
            <a:ext cx="33832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4151630"/>
            <a:ext cx="73152" cy="1508760"/>
          </a:xfrm>
          <a:prstGeom prst="rect">
            <a:avLst/>
          </a:prstGeom>
          <a:solidFill>
            <a:srgbClr val="207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8703" y="4231005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33C"/>
                </a:solidFill>
                <a:latin typeface="Aptos"/>
              </a:defRPr>
            </a:pPr>
            <a:r>
              <a:t>Core Idea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4757927"/>
            <a:ext cx="301752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82D32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Analyze → Select → Solve → Measure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389120" y="4231005"/>
            <a:ext cx="3395980" cy="1429385"/>
          </a:xfrm>
          <a:prstGeom prst="roundRect">
            <a:avLst/>
          </a:prstGeom>
          <a:solidFill>
            <a:srgbClr val="FFFFFF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32605" y="4231005"/>
            <a:ext cx="76200" cy="1429385"/>
          </a:xfrm>
          <a:prstGeom prst="rect">
            <a:avLst/>
          </a:prstGeom>
          <a:solidFill>
            <a:srgbClr val="E18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68088" y="4231005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33C"/>
                </a:solidFill>
                <a:latin typeface="Aptos"/>
              </a:defRPr>
            </a:pPr>
            <a:r>
              <a:t>AI Concepts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4655057"/>
            <a:ext cx="301752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82D32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CSP • heuristics • backtracking • local search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129270" y="4150995"/>
            <a:ext cx="33832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05140" y="4151630"/>
            <a:ext cx="73152" cy="1508760"/>
          </a:xfrm>
          <a:prstGeom prst="rect">
            <a:avLst/>
          </a:prstGeom>
          <a:solidFill>
            <a:srgbClr val="378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93608" y="4334510"/>
            <a:ext cx="3017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33C"/>
                </a:solidFill>
                <a:latin typeface="Aptos"/>
              </a:defRPr>
            </a:pPr>
            <a:r>
              <a:t>Expected Benefit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7743" y="4654422"/>
            <a:ext cx="3017520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82D32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Reduce unnecessary search by matching the strategy to the puzzle.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972800" y="6519672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8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  <a:latin typeface="Aptos Display"/>
              </a:defRPr>
            </a:pPr>
            <a:r>
              <a:t>2. 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6675120" cy="4316095"/>
          </a:xfrm>
          <a:prstGeom prst="rect">
            <a:avLst/>
          </a:prstGeom>
          <a:noFill/>
        </p:spPr>
        <p:txBody>
          <a:bodyPr wrap="square" lIns="36576" rIns="36576">
            <a:noAutofit/>
          </a:bodyPr>
          <a:lstStyle/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1900">
                <a:solidFill>
                  <a:srgbClr val="282D32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A standard Sudoku solver often applies the same solving procedure to every puzzle.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1900">
                <a:solidFill>
                  <a:srgbClr val="282D32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Different puzzles can have very different search-space characteristics even when they are the same size.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1900">
                <a:solidFill>
                  <a:srgbClr val="282D32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Pure brute-force backtracking may explore many unnecessary states.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1900">
                <a:solidFill>
                  <a:srgbClr val="282D32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A heuristic/CSP solver can reduce search, while local search provides a fundamentally different alternative.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  <a:p>
            <a:pPr marL="342900" indent="-342900">
              <a:spcAft>
                <a:spcPts val="900"/>
              </a:spcAft>
              <a:buFont typeface="Arial" panose="020B0604020202020204" pitchFamily="34" charset="0"/>
              <a:buChar char="•"/>
              <a:defRPr sz="1900">
                <a:solidFill>
                  <a:srgbClr val="282D32"/>
                </a:solidFill>
                <a:latin typeface="Aptos"/>
              </a:defRPr>
            </a:pPr>
            <a:r>
              <a:rPr>
                <a:latin typeface="Times New Roman" panose="02020603050405020304" charset="0"/>
                <a:cs typeface="Times New Roman" panose="02020603050405020304" charset="0"/>
              </a:rPr>
              <a:t>The problem is therefore to design a solver that can select an appropriate strategy from a small set of AI algorithms.</a:t>
            </a:r>
            <a:endParaRPr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818120" y="141732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18120" y="1417320"/>
            <a:ext cx="73152" cy="1325880"/>
          </a:xfrm>
          <a:prstGeom prst="rect">
            <a:avLst/>
          </a:prstGeom>
          <a:solidFill>
            <a:srgbClr val="2C6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19288" y="1554480"/>
            <a:ext cx="2880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33C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19288" y="1984248"/>
            <a:ext cx="2880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82D32"/>
                </a:solidFill>
                <a:latin typeface="Aptos"/>
              </a:defRPr>
            </a:pPr>
            <a:r>
              <a:t>9×9 Sudoku grid with given values.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18120" y="292608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18120" y="2926080"/>
            <a:ext cx="73152" cy="1325880"/>
          </a:xfrm>
          <a:prstGeom prst="rect">
            <a:avLst/>
          </a:prstGeom>
          <a:solidFill>
            <a:srgbClr val="E18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19288" y="3063240"/>
            <a:ext cx="2880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33C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19288" y="3493008"/>
            <a:ext cx="2880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82D32"/>
                </a:solidFill>
                <a:latin typeface="Aptos"/>
              </a:defRPr>
            </a:pPr>
            <a:r>
              <a:t>Which solver should be used?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18120" y="443484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818120" y="4434840"/>
            <a:ext cx="73152" cy="1325880"/>
          </a:xfrm>
          <a:prstGeom prst="rect">
            <a:avLst/>
          </a:prstGeom>
          <a:solidFill>
            <a:srgbClr val="378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19288" y="4572000"/>
            <a:ext cx="2880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33C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19288" y="5001768"/>
            <a:ext cx="2880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82D32"/>
                </a:solidFill>
                <a:latin typeface="Aptos"/>
              </a:defRPr>
            </a:pPr>
            <a:r>
              <a:t>Valid completed grid + performance metrics.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519672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8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24661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  <a:latin typeface="Aptos Display"/>
              </a:defRPr>
            </a:pPr>
            <a:r>
              <a:t>3. Literature Survey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96112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078"/>
                </a:solidFill>
                <a:latin typeface="Aptos"/>
              </a:defRPr>
            </a:pPr>
            <a:r>
              <a:t>Selected work relevant to Sudoku, CSP solving and local search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34440"/>
            <a:ext cx="2286000" cy="502920"/>
          </a:xfrm>
          <a:prstGeom prst="rect">
            <a:avLst/>
          </a:prstGeom>
          <a:solidFill>
            <a:srgbClr val="1423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Work</a:t>
            </a:r>
          </a:p>
        </p:txBody>
      </p:sp>
      <p:sp>
        <p:nvSpPr>
          <p:cNvPr id="7" name="Rectangle 6"/>
          <p:cNvSpPr/>
          <p:nvPr/>
        </p:nvSpPr>
        <p:spPr>
          <a:xfrm>
            <a:off x="2880360" y="1234440"/>
            <a:ext cx="5120640" cy="502920"/>
          </a:xfrm>
          <a:prstGeom prst="rect">
            <a:avLst/>
          </a:prstGeom>
          <a:solidFill>
            <a:srgbClr val="1423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Approach / contribution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8001000" y="1234440"/>
            <a:ext cx="4160520" cy="502920"/>
          </a:xfrm>
          <a:prstGeom prst="rect">
            <a:avLst/>
          </a:prstGeom>
          <a:solidFill>
            <a:srgbClr val="1423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Relevance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1737360"/>
            <a:ext cx="2286000" cy="987552"/>
          </a:xfrm>
          <a:prstGeom prst="rect">
            <a:avLst/>
          </a:prstGeom>
          <a:solidFill>
            <a:srgbClr val="F5F7FA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50" b="1">
                <a:solidFill>
                  <a:srgbClr val="14233C"/>
                </a:solidFill>
                <a:latin typeface="Aptos"/>
              </a:defRPr>
            </a:pPr>
            <a:r>
              <a:t>FLAIRS 2007 – Teaching AI using Sudoku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80360" y="1737360"/>
            <a:ext cx="5120640" cy="987552"/>
          </a:xfrm>
          <a:prstGeom prst="rect">
            <a:avLst/>
          </a:prstGeom>
          <a:solidFill>
            <a:srgbClr val="F5F7FA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50">
                <a:solidFill>
                  <a:srgbClr val="282D32"/>
                </a:solidFill>
                <a:latin typeface="Aptos"/>
              </a:defRPr>
            </a:pPr>
            <a:r>
              <a:t>Students implemented basic backtracking, ordering heuristics, forward checking and constraint propagation; performance metrics were compared.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1000" y="1737360"/>
            <a:ext cx="4160520" cy="987552"/>
          </a:xfrm>
          <a:prstGeom prst="rect">
            <a:avLst/>
          </a:prstGeom>
          <a:solidFill>
            <a:srgbClr val="F5F7FA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50">
                <a:solidFill>
                  <a:srgbClr val="282D32"/>
                </a:solidFill>
                <a:latin typeface="Aptos"/>
              </a:defRPr>
            </a:pPr>
            <a:r>
              <a:t>Directly supports the choice of CSP techniques and baseline comparisons. [1]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2724912"/>
            <a:ext cx="2286000" cy="987552"/>
          </a:xfrm>
          <a:prstGeom prst="rect">
            <a:avLst/>
          </a:prstGeom>
          <a:solidFill>
            <a:srgbClr val="FFFFFF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50" b="1">
                <a:solidFill>
                  <a:srgbClr val="14233C"/>
                </a:solidFill>
                <a:latin typeface="Aptos"/>
              </a:defRPr>
            </a:pPr>
            <a:r>
              <a:t>AAAI 2007 – Interactive Constraint-Based Sudoku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80360" y="2724912"/>
            <a:ext cx="5120640" cy="987552"/>
          </a:xfrm>
          <a:prstGeom prst="rect">
            <a:avLst/>
          </a:prstGeom>
          <a:solidFill>
            <a:srgbClr val="FFFFFF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50">
                <a:solidFill>
                  <a:srgbClr val="282D32"/>
                </a:solidFill>
                <a:latin typeface="Aptos"/>
              </a:defRPr>
            </a:pPr>
            <a:r>
              <a:t>Interactive Sudoku solver using AC/SAC, GAC/SGAC, forward checking, maintaining arc consistency and backtracking.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01000" y="2724912"/>
            <a:ext cx="4160520" cy="987552"/>
          </a:xfrm>
          <a:prstGeom prst="rect">
            <a:avLst/>
          </a:prstGeom>
          <a:solidFill>
            <a:srgbClr val="FFFFFF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50">
                <a:solidFill>
                  <a:srgbClr val="282D32"/>
                </a:solidFill>
                <a:latin typeface="Aptos"/>
              </a:defRPr>
            </a:pPr>
            <a:r>
              <a:t>Shows the effectiveness of combining propagation with search. [2]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3712464"/>
            <a:ext cx="2286000" cy="987552"/>
          </a:xfrm>
          <a:prstGeom prst="rect">
            <a:avLst/>
          </a:prstGeom>
          <a:solidFill>
            <a:srgbClr val="F5F7FA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50" b="1">
                <a:solidFill>
                  <a:srgbClr val="14233C"/>
                </a:solidFill>
                <a:latin typeface="Aptos"/>
              </a:defRPr>
            </a:pPr>
            <a:r>
              <a:t>Springer 2024 – Perception-based constraint solving for Sudoku images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80360" y="3712464"/>
            <a:ext cx="5120640" cy="987552"/>
          </a:xfrm>
          <a:prstGeom prst="rect">
            <a:avLst/>
          </a:prstGeom>
          <a:solidFill>
            <a:srgbClr val="F5F7FA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50">
                <a:solidFill>
                  <a:srgbClr val="282D32"/>
                </a:solidFill>
                <a:latin typeface="Aptos"/>
              </a:defRPr>
            </a:pPr>
            <a:r>
              <a:t>Formulates 9×9 Sudoku explicitly as a CSP with variables, domains and row/column/subgrid constraints.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1000" y="3712464"/>
            <a:ext cx="4160520" cy="987552"/>
          </a:xfrm>
          <a:prstGeom prst="rect">
            <a:avLst/>
          </a:prstGeom>
          <a:solidFill>
            <a:srgbClr val="F5F7FA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50">
                <a:solidFill>
                  <a:srgbClr val="282D32"/>
                </a:solidFill>
                <a:latin typeface="Aptos"/>
              </a:defRPr>
            </a:pPr>
            <a:r>
              <a:t>Provides a modern formal CSP formulation of Sudoku. [3]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4700016"/>
            <a:ext cx="2286000" cy="987552"/>
          </a:xfrm>
          <a:prstGeom prst="rect">
            <a:avLst/>
          </a:prstGeom>
          <a:solidFill>
            <a:srgbClr val="FFFFFF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50" b="1">
                <a:solidFill>
                  <a:srgbClr val="14233C"/>
                </a:solidFill>
                <a:latin typeface="Aptos"/>
              </a:defRPr>
            </a:pPr>
            <a:r>
              <a:t>CMU CSP material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80360" y="4700016"/>
            <a:ext cx="5120640" cy="987552"/>
          </a:xfrm>
          <a:prstGeom prst="rect">
            <a:avLst/>
          </a:prstGeom>
          <a:solidFill>
            <a:srgbClr val="FFFFFF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50">
                <a:solidFill>
                  <a:srgbClr val="282D32"/>
                </a:solidFill>
                <a:latin typeface="Aptos"/>
              </a:defRPr>
            </a:pPr>
            <a:r>
              <a:t>Backtracking and min-conflicts are presented as alternative CSP solving approaches; constraint propagation reduces search space.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1000" y="4700016"/>
            <a:ext cx="4160520" cy="987552"/>
          </a:xfrm>
          <a:prstGeom prst="rect">
            <a:avLst/>
          </a:prstGeom>
          <a:solidFill>
            <a:srgbClr val="FFFFFF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50">
                <a:solidFill>
                  <a:srgbClr val="282D32"/>
                </a:solidFill>
                <a:latin typeface="Aptos"/>
              </a:defRPr>
            </a:pPr>
            <a:r>
              <a:t>Motivates including local search as a complementary strategy. [4]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519672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8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  <a:latin typeface="Aptos Display"/>
              </a:defRPr>
            </a:pPr>
            <a:r>
              <a:t>4. Research Gap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33375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73152" cy="1828800"/>
          </a:xfrm>
          <a:prstGeom prst="rect">
            <a:avLst/>
          </a:prstGeom>
          <a:solidFill>
            <a:srgbClr val="2C6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463039"/>
            <a:ext cx="2971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33C"/>
                </a:solidFill>
                <a:latin typeface="Aptos"/>
              </a:defRPr>
            </a:pPr>
            <a:r>
              <a:t>Existing Focus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1892807"/>
            <a:ext cx="29718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82D32"/>
                </a:solidFill>
                <a:latin typeface="Aptos"/>
              </a:defRPr>
            </a:pPr>
            <a:r>
              <a:t>Most educational Sudoku solvers compare or demonstrate individual CSP techniques.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325880"/>
            <a:ext cx="33375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325880"/>
            <a:ext cx="73152" cy="1828800"/>
          </a:xfrm>
          <a:prstGeom prst="rect">
            <a:avLst/>
          </a:prstGeom>
          <a:solidFill>
            <a:srgbClr val="E18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6007" y="1463039"/>
            <a:ext cx="2971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33C"/>
                </a:solidFill>
                <a:latin typeface="Aptos"/>
              </a:defRPr>
            </a:pPr>
            <a:r>
              <a:t>Limitation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7" y="1892807"/>
            <a:ext cx="29718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82D32"/>
                </a:solidFill>
                <a:latin typeface="Aptos"/>
              </a:defRPr>
            </a:pPr>
            <a:r>
              <a:t>A fixed solver does not explicitly adapt its strategy to the observed structure of each input puzzle.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325880"/>
            <a:ext cx="33375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325880"/>
            <a:ext cx="73152" cy="1828800"/>
          </a:xfrm>
          <a:prstGeom prst="rect">
            <a:avLst/>
          </a:prstGeom>
          <a:solidFill>
            <a:srgbClr val="378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9328" y="1463039"/>
            <a:ext cx="2971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33C"/>
                </a:solidFill>
                <a:latin typeface="Aptos"/>
              </a:defRPr>
            </a:pPr>
            <a:r>
              <a:t>Proposed Gap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8" y="1892807"/>
            <a:ext cx="29718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82D32"/>
                </a:solidFill>
                <a:latin typeface="Aptos"/>
              </a:defRPr>
            </a:pPr>
            <a:r>
              <a:t>Investigate whether lightweight puzzle features can guide dynamic selection among a small set of AI strategies.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069080" y="2240280"/>
            <a:ext cx="320040" cy="0"/>
          </a:xfrm>
          <a:prstGeom prst="line">
            <a:avLst/>
          </a:prstGeom>
          <a:ln w="31750">
            <a:solidFill>
              <a:srgbClr val="1423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772400" y="2240280"/>
            <a:ext cx="320040" cy="0"/>
          </a:xfrm>
          <a:prstGeom prst="line">
            <a:avLst/>
          </a:prstGeom>
          <a:ln w="31750">
            <a:solidFill>
              <a:srgbClr val="1423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14400" y="3794760"/>
            <a:ext cx="10607040" cy="158051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2000" b="1">
                <a:solidFill>
                  <a:srgbClr val="14233C"/>
                </a:solidFill>
                <a:latin typeface="Aptos"/>
              </a:defRPr>
            </a:pPr>
            <a:r>
              <a:t>Research question:</a:t>
            </a:r>
          </a:p>
          <a:p>
            <a:pPr>
              <a:spcBef>
                <a:spcPts val="800"/>
              </a:spcBef>
              <a:defRPr sz="1900">
                <a:solidFill>
                  <a:srgbClr val="282D32"/>
                </a:solidFill>
                <a:latin typeface="Aptos"/>
              </a:defRPr>
            </a:pPr>
            <a:r>
              <a:t>Can puzzle-level characteristics be used to select a solving strategy that reduces search effort </a:t>
            </a:r>
          </a:p>
          <a:p>
            <a:pPr>
              <a:spcBef>
                <a:spcPts val="800"/>
              </a:spcBef>
              <a:defRPr sz="1900">
                <a:solidFill>
                  <a:srgbClr val="282D32"/>
                </a:solidFill>
                <a:latin typeface="Aptos"/>
              </a:defRPr>
            </a:pPr>
            <a:r>
              <a:t>compared with using one fixed solver?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519672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8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  <a:latin typeface="Aptos Display"/>
              </a:defRPr>
            </a:pPr>
            <a:r>
              <a:t>5. Research 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5166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234440"/>
            <a:ext cx="73152" cy="1143000"/>
          </a:xfrm>
          <a:prstGeom prst="rect">
            <a:avLst/>
          </a:prstGeom>
          <a:solidFill>
            <a:srgbClr val="2C6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371600"/>
            <a:ext cx="4800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33C"/>
                </a:solidFill>
                <a:latin typeface="Aptos"/>
              </a:defRPr>
            </a:pPr>
            <a:r>
              <a:t>Objective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1801368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82D32"/>
                </a:solidFill>
                <a:latin typeface="Aptos"/>
              </a:defRPr>
            </a:pPr>
            <a:r>
              <a:t>Model Sudoku as a Constraint Satisfaction Problem with variables, domains and constraints.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234440"/>
            <a:ext cx="5166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1234440"/>
            <a:ext cx="73152" cy="1143000"/>
          </a:xfrm>
          <a:prstGeom prst="rect">
            <a:avLst/>
          </a:prstGeom>
          <a:solidFill>
            <a:srgbClr val="207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56248" y="1371600"/>
            <a:ext cx="4800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33C"/>
                </a:solidFill>
                <a:latin typeface="Aptos"/>
              </a:defRPr>
            </a:pPr>
            <a:r>
              <a:t>Objective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6248" y="1801368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82D32"/>
                </a:solidFill>
                <a:latin typeface="Aptos"/>
              </a:defRPr>
            </a:pPr>
            <a:r>
              <a:t>Implement a small, syllabus-aligned set of complementary solving strategies.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651760"/>
            <a:ext cx="5166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2651760"/>
            <a:ext cx="73152" cy="1143000"/>
          </a:xfrm>
          <a:prstGeom prst="rect">
            <a:avLst/>
          </a:prstGeom>
          <a:solidFill>
            <a:srgbClr val="E18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2788920"/>
            <a:ext cx="4800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33C"/>
                </a:solidFill>
                <a:latin typeface="Aptos"/>
              </a:defRPr>
            </a:pPr>
            <a:r>
              <a:t>Objective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3218688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82D32"/>
                </a:solidFill>
                <a:latin typeface="Aptos"/>
              </a:defRPr>
            </a:pPr>
            <a:r>
              <a:t>Extract measurable puzzle features before solving.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2651760"/>
            <a:ext cx="5166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5080" y="2651760"/>
            <a:ext cx="73152" cy="1143000"/>
          </a:xfrm>
          <a:prstGeom prst="rect">
            <a:avLst/>
          </a:prstGeom>
          <a:solidFill>
            <a:srgbClr val="378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56248" y="2788920"/>
            <a:ext cx="4800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33C"/>
                </a:solidFill>
                <a:latin typeface="Aptos"/>
              </a:defRPr>
            </a:pPr>
            <a:r>
              <a:t>Objective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6248" y="3218688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82D32"/>
                </a:solidFill>
                <a:latin typeface="Aptos"/>
              </a:defRPr>
            </a:pPr>
            <a:r>
              <a:t>Design a strategy-selection mechanism that chooses an appropriate solver.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069080"/>
            <a:ext cx="5166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4069080"/>
            <a:ext cx="73152" cy="1143000"/>
          </a:xfrm>
          <a:prstGeom prst="rect">
            <a:avLst/>
          </a:prstGeom>
          <a:solidFill>
            <a:srgbClr val="2C6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" y="4206240"/>
            <a:ext cx="4800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33C"/>
                </a:solidFill>
                <a:latin typeface="Aptos"/>
              </a:defRPr>
            </a:pPr>
            <a:r>
              <a:t>Objective 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" y="4636008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82D32"/>
                </a:solidFill>
                <a:latin typeface="Aptos"/>
              </a:defRPr>
            </a:pPr>
            <a:r>
              <a:t>Benchmark the strategies using time, assignments/nodes, backtracks and success rate.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80" y="4069080"/>
            <a:ext cx="5166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55080" y="4069080"/>
            <a:ext cx="73152" cy="1143000"/>
          </a:xfrm>
          <a:prstGeom prst="rect">
            <a:avLst/>
          </a:prstGeom>
          <a:solidFill>
            <a:srgbClr val="207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6248" y="4206240"/>
            <a:ext cx="4800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33C"/>
                </a:solidFill>
                <a:latin typeface="Aptos"/>
              </a:defRPr>
            </a:pPr>
            <a:r>
              <a:t>Objective 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56248" y="4636008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82D32"/>
                </a:solidFill>
                <a:latin typeface="Aptos"/>
              </a:defRPr>
            </a:pPr>
            <a:r>
              <a:t>Study whether adaptive selection reduces unnecessary search on a representative puzzle set.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519672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8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  <a:latin typeface="Aptos Display"/>
              </a:defRPr>
            </a:pPr>
            <a:r>
              <a:t>6. Proposed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527" y="914527"/>
            <a:ext cx="1864360" cy="3371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078"/>
                </a:solidFill>
                <a:latin typeface="Aptos"/>
              </a:defRPr>
            </a:pPr>
            <a:r>
              <a:rPr sz="1600" b="1"/>
              <a:t>Adaptive pipeline</a:t>
            </a:r>
            <a:endParaRPr sz="1600" b="1"/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1828800" cy="777240"/>
          </a:xfrm>
          <a:prstGeom prst="roundRect">
            <a:avLst/>
          </a:prstGeom>
          <a:solidFill>
            <a:srgbClr val="E1EDFA"/>
          </a:solidFill>
          <a:ln w="16510">
            <a:solidFill>
              <a:srgbClr val="2C6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4233C"/>
                </a:solidFill>
                <a:latin typeface="Aptos"/>
              </a:defRPr>
            </a:pPr>
            <a:r>
              <a:t>Sudoku Input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14600" y="1810512"/>
            <a:ext cx="502920" cy="0"/>
          </a:xfrm>
          <a:prstGeom prst="line">
            <a:avLst/>
          </a:prstGeom>
          <a:ln w="25400">
            <a:solidFill>
              <a:srgbClr val="697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017520" y="1417320"/>
            <a:ext cx="1965960" cy="777240"/>
          </a:xfrm>
          <a:prstGeom prst="roundRect">
            <a:avLst/>
          </a:prstGeom>
          <a:solidFill>
            <a:srgbClr val="E1EDFA"/>
          </a:solidFill>
          <a:ln w="16510">
            <a:solidFill>
              <a:srgbClr val="207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4233C"/>
                </a:solidFill>
                <a:latin typeface="Aptos"/>
              </a:defRPr>
            </a:pPr>
            <a:r>
              <a:t>Puzzle Analyzer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983480" y="1810512"/>
            <a:ext cx="502920" cy="0"/>
          </a:xfrm>
          <a:prstGeom prst="line">
            <a:avLst/>
          </a:prstGeom>
          <a:ln w="25400">
            <a:solidFill>
              <a:srgbClr val="697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486400" y="1417320"/>
            <a:ext cx="2057400" cy="777240"/>
          </a:xfrm>
          <a:prstGeom prst="roundRect">
            <a:avLst/>
          </a:prstGeom>
          <a:solidFill>
            <a:srgbClr val="E1EDFA"/>
          </a:solidFill>
          <a:ln w="16510">
            <a:solidFill>
              <a:srgbClr val="207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4233C"/>
                </a:solidFill>
                <a:latin typeface="Aptos"/>
              </a:defRPr>
            </a:pPr>
            <a:r>
              <a:t>Feature Extraction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543800" y="1810512"/>
            <a:ext cx="502920" cy="0"/>
          </a:xfrm>
          <a:prstGeom prst="line">
            <a:avLst/>
          </a:prstGeom>
          <a:ln w="25400">
            <a:solidFill>
              <a:srgbClr val="697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046720" y="1417320"/>
            <a:ext cx="2057400" cy="777240"/>
          </a:xfrm>
          <a:prstGeom prst="roundRect">
            <a:avLst/>
          </a:prstGeom>
          <a:solidFill>
            <a:srgbClr val="E1EDFA"/>
          </a:solidFill>
          <a:ln w="16510">
            <a:solidFill>
              <a:srgbClr val="E18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4233C"/>
                </a:solidFill>
                <a:latin typeface="Aptos"/>
              </a:defRPr>
            </a:pPr>
            <a:r>
              <a:t>Strategy Selector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098280" y="2194560"/>
            <a:ext cx="0" cy="594360"/>
          </a:xfrm>
          <a:prstGeom prst="line">
            <a:avLst/>
          </a:prstGeom>
          <a:ln w="25400">
            <a:solidFill>
              <a:srgbClr val="697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14400" y="2926080"/>
            <a:ext cx="2743200" cy="91440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2C6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4233C"/>
                </a:solidFill>
                <a:latin typeface="Aptos"/>
              </a:defRPr>
            </a:pPr>
            <a:r>
              <a:t>1. Basic</a:t>
            </a:r>
            <a:br/>
            <a:r>
              <a:t>Backtracking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09160" y="2926080"/>
            <a:ext cx="2743200" cy="91440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207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4233C"/>
                </a:solidFill>
                <a:latin typeface="Aptos"/>
              </a:defRPr>
            </a:pPr>
            <a:r>
              <a:t>2. CSP + MRV +</a:t>
            </a:r>
            <a:br/>
            <a:r>
              <a:t>Propagation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03920" y="2926080"/>
            <a:ext cx="2743200" cy="91440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E18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4233C"/>
                </a:solidFill>
                <a:latin typeface="Aptos"/>
              </a:defRPr>
            </a:pPr>
            <a:r>
              <a:t>3. Min-Conflicts</a:t>
            </a:r>
            <a:br/>
            <a:r>
              <a:t>Local Search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286000" y="3840480"/>
            <a:ext cx="2926080" cy="731520"/>
          </a:xfrm>
          <a:prstGeom prst="line">
            <a:avLst/>
          </a:prstGeom>
          <a:ln w="25400">
            <a:solidFill>
              <a:srgbClr val="697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080760" y="3840480"/>
            <a:ext cx="0" cy="731520"/>
          </a:xfrm>
          <a:prstGeom prst="line">
            <a:avLst/>
          </a:prstGeom>
          <a:ln w="25400">
            <a:solidFill>
              <a:srgbClr val="697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6949440" y="3840480"/>
            <a:ext cx="2926080" cy="731520"/>
          </a:xfrm>
          <a:prstGeom prst="line">
            <a:avLst/>
          </a:prstGeom>
          <a:ln w="25400">
            <a:solidFill>
              <a:srgbClr val="697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572000" y="4572000"/>
            <a:ext cx="3017520" cy="822960"/>
          </a:xfrm>
          <a:prstGeom prst="roundRect">
            <a:avLst/>
          </a:prstGeom>
          <a:solidFill>
            <a:srgbClr val="E1EDFA"/>
          </a:solidFill>
          <a:ln w="16510">
            <a:solidFill>
              <a:srgbClr val="378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4233C"/>
                </a:solidFill>
                <a:latin typeface="Aptos"/>
              </a:defRPr>
            </a:pPr>
            <a:r>
              <a:t>Solved Grid + Metrics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519672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8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  <a:latin typeface="Aptos Display"/>
              </a:defRPr>
            </a:pPr>
            <a:r>
              <a:t>7. Algorithms Used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34440"/>
            <a:ext cx="3476625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234440"/>
            <a:ext cx="73152" cy="4343400"/>
          </a:xfrm>
          <a:prstGeom prst="rect">
            <a:avLst/>
          </a:prstGeom>
          <a:solidFill>
            <a:srgbClr val="2C6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825" y="1371600"/>
            <a:ext cx="3267710" cy="72390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1700" b="1">
                <a:solidFill>
                  <a:srgbClr val="14233C"/>
                </a:solidFill>
                <a:latin typeface="Aptos"/>
              </a:defRPr>
            </a:pPr>
            <a:r>
              <a:rPr sz="1600"/>
              <a:t>Algorithm 1 — Basic Backtracking</a:t>
            </a:r>
            <a:endParaRPr sz="1600"/>
          </a:p>
        </p:txBody>
      </p:sp>
      <p:sp>
        <p:nvSpPr>
          <p:cNvPr id="8" name="TextBox 7"/>
          <p:cNvSpPr txBox="1"/>
          <p:nvPr/>
        </p:nvSpPr>
        <p:spPr>
          <a:xfrm>
            <a:off x="864235" y="2165985"/>
            <a:ext cx="3056890" cy="31019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500">
                <a:solidFill>
                  <a:srgbClr val="282D32"/>
                </a:solidFill>
                <a:latin typeface="Aptos"/>
              </a:defRPr>
            </a:pPr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• Select an unfilled cell</a:t>
            </a:r>
            <a:br>
              <a:rPr sz="1800">
                <a:latin typeface="Times New Roman" panose="02020603050405020304" charset="0"/>
                <a:cs typeface="Times New Roman" panose="02020603050405020304" charset="0"/>
              </a:rPr>
            </a:br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• Try legal values 1–9</a:t>
            </a:r>
            <a:br>
              <a:rPr sz="1800">
                <a:latin typeface="Times New Roman" panose="02020603050405020304" charset="0"/>
                <a:cs typeface="Times New Roman" panose="02020603050405020304" charset="0"/>
              </a:rPr>
            </a:br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• Recurse after assignment</a:t>
            </a:r>
            <a:br>
              <a:rPr sz="1800">
                <a:latin typeface="Times New Roman" panose="02020603050405020304" charset="0"/>
                <a:cs typeface="Times New Roman" panose="02020603050405020304" charset="0"/>
              </a:rPr>
            </a:br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• Backtrack when a constraint is violated</a:t>
            </a:r>
            <a:br>
              <a:rPr sz="1800">
                <a:latin typeface="Times New Roman" panose="02020603050405020304" charset="0"/>
                <a:cs typeface="Times New Roman" panose="02020603050405020304" charset="0"/>
              </a:rPr>
            </a:br>
            <a:br>
              <a:rPr sz="1800">
                <a:latin typeface="Times New Roman" panose="02020603050405020304" charset="0"/>
                <a:cs typeface="Times New Roman" panose="02020603050405020304" charset="0"/>
              </a:rPr>
            </a:br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Purpose: baseline for measuring the value of heuristics and propagation.</a:t>
            </a:r>
            <a:endParaRPr sz="18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387850" y="1234440"/>
            <a:ext cx="3575685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7850" y="1371600"/>
            <a:ext cx="440436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4233C"/>
                </a:solidFill>
                <a:latin typeface="Aptos"/>
              </a:defRPr>
            </a:pPr>
            <a:r>
              <a:rPr lang="en-US" sz="1600"/>
              <a:t>   </a:t>
            </a:r>
            <a:r>
              <a:rPr sz="1600"/>
              <a:t>Algorithm 2 — CSP + MRV </a:t>
            </a:r>
            <a:endParaRPr sz="1600"/>
          </a:p>
          <a:p>
            <a:pPr>
              <a:defRPr sz="1700" b="1">
                <a:solidFill>
                  <a:srgbClr val="14233C"/>
                </a:solidFill>
                <a:latin typeface="Aptos"/>
              </a:defRPr>
            </a:pPr>
            <a:r>
              <a:rPr lang="en-US" sz="1600"/>
              <a:t>       </a:t>
            </a:r>
            <a:r>
              <a:rPr sz="1600"/>
              <a:t>+ Propagation</a:t>
            </a:r>
            <a:endParaRPr sz="1600"/>
          </a:p>
        </p:txBody>
      </p:sp>
      <p:sp>
        <p:nvSpPr>
          <p:cNvPr id="12" name="TextBox 11"/>
          <p:cNvSpPr txBox="1"/>
          <p:nvPr/>
        </p:nvSpPr>
        <p:spPr>
          <a:xfrm>
            <a:off x="4540250" y="2165985"/>
            <a:ext cx="3080385" cy="25679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500">
                <a:solidFill>
                  <a:srgbClr val="282D32"/>
                </a:solidFill>
                <a:latin typeface="Aptos"/>
              </a:defRPr>
            </a:pPr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• Maintain candidate domains</a:t>
            </a:r>
            <a:br>
              <a:rPr sz="1800">
                <a:latin typeface="Times New Roman" panose="02020603050405020304" charset="0"/>
                <a:cs typeface="Times New Roman" panose="02020603050405020304" charset="0"/>
              </a:rPr>
            </a:br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• Apply constraint propagation</a:t>
            </a:r>
            <a:br>
              <a:rPr sz="1800">
                <a:latin typeface="Times New Roman" panose="02020603050405020304" charset="0"/>
                <a:cs typeface="Times New Roman" panose="02020603050405020304" charset="0"/>
              </a:rPr>
            </a:br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• Select the cell with Minimum Remaining Values (MRV)</a:t>
            </a:r>
            <a:br>
              <a:rPr sz="1800">
                <a:latin typeface="Times New Roman" panose="02020603050405020304" charset="0"/>
                <a:cs typeface="Times New Roman" panose="02020603050405020304" charset="0"/>
              </a:rPr>
            </a:br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• Use forward checking</a:t>
            </a:r>
            <a:br>
              <a:rPr sz="1800">
                <a:latin typeface="Times New Roman" panose="02020603050405020304" charset="0"/>
                <a:cs typeface="Times New Roman" panose="02020603050405020304" charset="0"/>
              </a:rPr>
            </a:br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• Backtrack only when necessary</a:t>
            </a:r>
            <a:br>
              <a:rPr sz="1800">
                <a:latin typeface="Times New Roman" panose="02020603050405020304" charset="0"/>
                <a:cs typeface="Times New Roman" panose="02020603050405020304" charset="0"/>
              </a:rPr>
            </a:br>
            <a:br>
              <a:rPr sz="1800">
                <a:latin typeface="Times New Roman" panose="02020603050405020304" charset="0"/>
                <a:cs typeface="Times New Roman" panose="02020603050405020304" charset="0"/>
              </a:rPr>
            </a:br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Purpose: reduce branching and search effort.</a:t>
            </a:r>
            <a:endParaRPr sz="18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972800" y="6519672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8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39760" y="1234440"/>
            <a:ext cx="3621405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4850" y="1410335"/>
            <a:ext cx="4516755" cy="54483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1700" b="1">
                <a:solidFill>
                  <a:srgbClr val="14233C"/>
                </a:solidFill>
                <a:latin typeface="Aptos"/>
              </a:defRPr>
            </a:pPr>
            <a:r>
              <a:t>Algorithm 3 — Min-Conflicts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39760" y="2165985"/>
            <a:ext cx="3558540" cy="27482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500">
                <a:solidFill>
                  <a:srgbClr val="282D32"/>
                </a:solidFill>
                <a:latin typeface="Aptos"/>
              </a:defRPr>
            </a:pPr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• Start from a complete candidate assignment</a:t>
            </a:r>
            <a:br>
              <a:rPr sz="1800">
                <a:latin typeface="Times New Roman" panose="02020603050405020304" charset="0"/>
                <a:cs typeface="Times New Roman" panose="02020603050405020304" charset="0"/>
              </a:rPr>
            </a:br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• Detect conflicted cells</a:t>
            </a:r>
            <a:br>
              <a:rPr sz="1800">
                <a:latin typeface="Times New Roman" panose="02020603050405020304" charset="0"/>
                <a:cs typeface="Times New Roman" panose="02020603050405020304" charset="0"/>
              </a:rPr>
            </a:br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• Reassign a value that minimizes conflicts</a:t>
            </a:r>
            <a:br>
              <a:rPr sz="1800">
                <a:latin typeface="Times New Roman" panose="02020603050405020304" charset="0"/>
                <a:cs typeface="Times New Roman" panose="02020603050405020304" charset="0"/>
              </a:rPr>
            </a:br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• Repeat until solved or a restart/limit is reached</a:t>
            </a:r>
            <a:br>
              <a:rPr sz="1800">
                <a:latin typeface="Times New Roman" panose="02020603050405020304" charset="0"/>
                <a:cs typeface="Times New Roman" panose="02020603050405020304" charset="0"/>
              </a:rPr>
            </a:br>
            <a:br>
              <a:rPr sz="1800">
                <a:latin typeface="Times New Roman" panose="02020603050405020304" charset="0"/>
                <a:cs typeface="Times New Roman" panose="02020603050405020304" charset="0"/>
              </a:rPr>
            </a:br>
            <a:r>
              <a:rPr sz="1800">
                <a:latin typeface="Times New Roman" panose="02020603050405020304" charset="0"/>
                <a:cs typeface="Times New Roman" panose="02020603050405020304" charset="0"/>
              </a:rPr>
              <a:t>Purpose: provide a local-search alternative.</a:t>
            </a:r>
            <a:endParaRPr sz="18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314825" y="1234440"/>
            <a:ext cx="73152" cy="4343400"/>
          </a:xfrm>
          <a:prstGeom prst="rect">
            <a:avLst/>
          </a:prstGeom>
          <a:solidFill>
            <a:srgbClr val="E18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88960" y="1234440"/>
            <a:ext cx="73152" cy="4343400"/>
          </a:xfrm>
          <a:prstGeom prst="rect">
            <a:avLst/>
          </a:prstGeom>
          <a:solidFill>
            <a:srgbClr val="207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Rounded Rectangle 9"/>
          <p:cNvSpPr/>
          <p:nvPr/>
        </p:nvSpPr>
        <p:spPr>
          <a:xfrm>
            <a:off x="497840" y="1450975"/>
            <a:ext cx="505079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800735" y="1450975"/>
            <a:ext cx="3547745" cy="4190365"/>
          </a:xfrm>
        </p:spPr>
        <p:txBody>
          <a:bodyPr/>
          <a:p>
            <a:pPr marL="0" indent="0">
              <a:buNone/>
            </a:pPr>
            <a:endParaRPr lang="en-US" altLang="en-US" sz="1800" b="1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>
              <a:buNone/>
            </a:pPr>
            <a:r>
              <a:rPr lang="en-US" altLang="en-US" sz="1800" b="1">
                <a:latin typeface="Times New Roman" panose="02020603050405020304" charset="0"/>
                <a:cs typeface="Times New Roman" panose="02020603050405020304" charset="0"/>
              </a:rPr>
              <a:t>Why adaptation?</a:t>
            </a:r>
            <a:endParaRPr lang="en-US" altLang="en-US" sz="1800" b="1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Different Sudoku puzzles have different complexity.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A single algorithm may not be efficient for every puzzle.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The solver analyzes the puzzle before solving.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1600">
                <a:latin typeface="Times New Roman" panose="02020603050405020304" charset="0"/>
                <a:cs typeface="Times New Roman" panose="02020603050405020304" charset="0"/>
              </a:rPr>
              <a:t>Based on its characteristics, a suitable algorithm is selected.</a:t>
            </a:r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en-US"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683260" y="387350"/>
            <a:ext cx="554418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defRPr sz="2800" b="1">
                <a:solidFill>
                  <a:srgbClr val="14233C"/>
                </a:solidFill>
                <a:latin typeface="Aptos Display"/>
              </a:defRPr>
            </a:pPr>
            <a:r>
              <a:rPr>
                <a:sym typeface="+mn-ea"/>
              </a:rPr>
              <a:t>8. Adaptive Strategy Selection</a:t>
            </a:r>
            <a:endParaRPr lang="en-US">
              <a:sym typeface="+mn-ea"/>
            </a:endParaRPr>
          </a:p>
        </p:txBody>
      </p:sp>
      <p:pic>
        <p:nvPicPr>
          <p:cNvPr id="9" name="Picture 8" descr="adaptive_proces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4690" y="274320"/>
            <a:ext cx="6280150" cy="6393815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497840" y="1450975"/>
            <a:ext cx="73152" cy="4343400"/>
          </a:xfrm>
          <a:prstGeom prst="rect">
            <a:avLst/>
          </a:prstGeom>
          <a:solidFill>
            <a:srgbClr val="E18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custDataLst>
      <p:tags r:id="rId2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  <a:latin typeface="Aptos Display"/>
              </a:defRPr>
            </a:pPr>
            <a:r>
              <a:t>9.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96112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078"/>
                </a:solidFill>
                <a:latin typeface="Aptos"/>
              </a:defRPr>
            </a:pPr>
            <a:r>
              <a:t>Planned implementation configuration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234440"/>
            <a:ext cx="2743200" cy="457200"/>
          </a:xfrm>
          <a:prstGeom prst="round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Programming language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03320" y="1234440"/>
            <a:ext cx="7223760" cy="457200"/>
          </a:xfrm>
          <a:prstGeom prst="roundRect">
            <a:avLst/>
          </a:prstGeom>
          <a:solidFill>
            <a:srgbClr val="F5F7FA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82D32"/>
                </a:solidFill>
                <a:latin typeface="Aptos"/>
              </a:defRPr>
            </a:pPr>
            <a:r>
              <a:t>Python 3.</a:t>
            </a:r>
            <a:r>
              <a:rPr lang="en-US"/>
              <a:t>14</a:t>
            </a:r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822960" y="1856232"/>
            <a:ext cx="2743200" cy="457200"/>
          </a:xfrm>
          <a:prstGeom prst="round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Development environment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03320" y="1856232"/>
            <a:ext cx="7223760" cy="457200"/>
          </a:xfrm>
          <a:prstGeom prst="roundRect">
            <a:avLst/>
          </a:prstGeom>
          <a:solidFill>
            <a:srgbClr val="F5F7FA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82D32"/>
                </a:solidFill>
                <a:latin typeface="Aptos"/>
              </a:defRPr>
            </a:pPr>
            <a:r>
              <a:t>Visual Studio Code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478024"/>
            <a:ext cx="2743200" cy="457200"/>
          </a:xfrm>
          <a:prstGeom prst="round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Core libraries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03320" y="2478024"/>
            <a:ext cx="7223760" cy="457200"/>
          </a:xfrm>
          <a:prstGeom prst="roundRect">
            <a:avLst/>
          </a:prstGeom>
          <a:solidFill>
            <a:srgbClr val="F5F7FA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82D32"/>
                </a:solidFill>
                <a:latin typeface="Aptos"/>
              </a:defRPr>
            </a:pPr>
            <a:r>
              <a:rPr lang="en-US" altLang="en-US"/>
              <a:t>Python Standard Library</a:t>
            </a:r>
            <a:endParaRPr lang="en-US" altLang="en-US"/>
          </a:p>
        </p:txBody>
      </p:sp>
      <p:sp>
        <p:nvSpPr>
          <p:cNvPr id="12" name="Rounded Rectangle 11"/>
          <p:cNvSpPr/>
          <p:nvPr/>
        </p:nvSpPr>
        <p:spPr>
          <a:xfrm>
            <a:off x="822960" y="3099816"/>
            <a:ext cx="2743200" cy="457200"/>
          </a:xfrm>
          <a:prstGeom prst="round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Interface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03320" y="3099816"/>
            <a:ext cx="7223760" cy="457200"/>
          </a:xfrm>
          <a:prstGeom prst="roundRect">
            <a:avLst/>
          </a:prstGeom>
          <a:solidFill>
            <a:srgbClr val="F5F7FA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82D32"/>
                </a:solidFill>
                <a:latin typeface="Aptos"/>
              </a:defRPr>
            </a:pPr>
            <a:r>
              <a:rPr lang="en-US" altLang="en-US"/>
              <a:t>Interface: Simple web/desktop interface</a:t>
            </a:r>
            <a:endParaRPr lang="en-US" altLang="en-US"/>
          </a:p>
        </p:txBody>
      </p:sp>
      <p:sp>
        <p:nvSpPr>
          <p:cNvPr id="14" name="Rounded Rectangle 13"/>
          <p:cNvSpPr/>
          <p:nvPr/>
        </p:nvSpPr>
        <p:spPr>
          <a:xfrm>
            <a:off x="822960" y="3721608"/>
            <a:ext cx="2743200" cy="457200"/>
          </a:xfrm>
          <a:prstGeom prst="round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03320" y="3721608"/>
            <a:ext cx="7223760" cy="457200"/>
          </a:xfrm>
          <a:prstGeom prst="roundRect">
            <a:avLst/>
          </a:prstGeom>
          <a:solidFill>
            <a:srgbClr val="F5F7FA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82D32"/>
                </a:solidFill>
                <a:latin typeface="Aptos"/>
              </a:defRPr>
            </a:pPr>
            <a:r>
              <a:t>9×9 Sudoku grid / puzzle dataset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343400"/>
            <a:ext cx="2743200" cy="457200"/>
          </a:xfrm>
          <a:prstGeom prst="round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Operating environment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03320" y="4343400"/>
            <a:ext cx="7223760" cy="457200"/>
          </a:xfrm>
          <a:prstGeom prst="roundRect">
            <a:avLst/>
          </a:prstGeom>
          <a:solidFill>
            <a:srgbClr val="F5F7FA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82D32"/>
                </a:solidFill>
                <a:latin typeface="Aptos"/>
              </a:defRPr>
            </a:pPr>
            <a:r>
              <a:t>Windows 10/11 or equivalent Python environment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965192"/>
            <a:ext cx="2743200" cy="457200"/>
          </a:xfrm>
          <a:prstGeom prst="round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Evaluation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03320" y="4965192"/>
            <a:ext cx="7223760" cy="457200"/>
          </a:xfrm>
          <a:prstGeom prst="roundRect">
            <a:avLst/>
          </a:prstGeom>
          <a:solidFill>
            <a:srgbClr val="F5F7FA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282D32"/>
                </a:solidFill>
                <a:latin typeface="Aptos"/>
              </a:defRPr>
            </a:pPr>
            <a:r>
              <a:t>Execution time, assignments/nodes, backtracks, propagation steps, success rate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5715000"/>
            <a:ext cx="10149840" cy="683895"/>
          </a:xfrm>
          <a:prstGeom prst="roundRect">
            <a:avLst/>
          </a:prstGeom>
          <a:solidFill>
            <a:srgbClr val="FFFFFF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" y="5715000"/>
            <a:ext cx="73152" cy="502920"/>
          </a:xfrm>
          <a:prstGeom prst="rect">
            <a:avLst/>
          </a:prstGeom>
          <a:solidFill>
            <a:srgbClr val="E18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5858" y="5742940"/>
            <a:ext cx="9738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33C"/>
                </a:solidFill>
                <a:latin typeface="Aptos"/>
              </a:defRPr>
            </a:pPr>
            <a:r>
              <a:t>Implementation status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5985" y="6062980"/>
            <a:ext cx="9738360" cy="3371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100">
                <a:solidFill>
                  <a:srgbClr val="282D32"/>
                </a:solidFill>
                <a:latin typeface="Aptos"/>
              </a:defRPr>
            </a:pPr>
            <a:r>
              <a:t>Core algorithms and selector are to be implemented and benchmarked; this presentation does not claim final performance results.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519672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8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5083175" cy="52197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  <a:latin typeface="Aptos Display"/>
              </a:defRPr>
            </a:pPr>
            <a:r>
              <a:t>10. </a:t>
            </a:r>
            <a:r>
              <a:rPr lang="en-US"/>
              <a:t>Expected </a:t>
            </a:r>
            <a:r>
              <a:t>Result and 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896112"/>
            <a:ext cx="10881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078"/>
                </a:solidFill>
                <a:latin typeface="Aptos"/>
              </a:defRPr>
            </a:pPr>
            <a:r>
              <a:t>Planned evaluation and user-visible output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345440" cy="345440"/>
          </a:xfrm>
          <a:prstGeom prst="rect">
            <a:avLst/>
          </a:prstGeom>
          <a:solidFill>
            <a:srgbClr val="FFFFFF"/>
          </a:solidFill>
          <a:ln w="508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76960" y="1417320"/>
            <a:ext cx="345440" cy="345440"/>
          </a:xfrm>
          <a:prstGeom prst="rect">
            <a:avLst/>
          </a:prstGeom>
          <a:solidFill>
            <a:srgbClr val="FFFFFF"/>
          </a:solidFill>
          <a:ln w="508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422400" y="1417320"/>
            <a:ext cx="345440" cy="345440"/>
          </a:xfrm>
          <a:prstGeom prst="rect">
            <a:avLst/>
          </a:prstGeom>
          <a:solidFill>
            <a:srgbClr val="FFFFFF"/>
          </a:solidFill>
          <a:ln w="508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767840" y="1417320"/>
            <a:ext cx="345440" cy="345440"/>
          </a:xfrm>
          <a:prstGeom prst="rect">
            <a:avLst/>
          </a:prstGeom>
          <a:solidFill>
            <a:srgbClr val="FFFFFF"/>
          </a:solidFill>
          <a:ln w="508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113280" y="1417320"/>
            <a:ext cx="345440" cy="345440"/>
          </a:xfrm>
          <a:prstGeom prst="rect">
            <a:avLst/>
          </a:prstGeom>
          <a:solidFill>
            <a:srgbClr val="FFFFFF"/>
          </a:solidFill>
          <a:ln w="508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458720" y="1417320"/>
            <a:ext cx="345440" cy="345440"/>
          </a:xfrm>
          <a:prstGeom prst="rect">
            <a:avLst/>
          </a:prstGeom>
          <a:solidFill>
            <a:srgbClr val="FFFFFF"/>
          </a:solidFill>
          <a:ln w="508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04160" y="1417320"/>
            <a:ext cx="345440" cy="345440"/>
          </a:xfrm>
          <a:prstGeom prst="rect">
            <a:avLst/>
          </a:prstGeom>
          <a:solidFill>
            <a:srgbClr val="FFFFFF"/>
          </a:solidFill>
          <a:ln w="508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149600" y="1417320"/>
            <a:ext cx="345440" cy="345440"/>
          </a:xfrm>
          <a:prstGeom prst="rect">
            <a:avLst/>
          </a:prstGeom>
          <a:solidFill>
            <a:srgbClr val="FFFFFF"/>
          </a:solidFill>
          <a:ln w="508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95039" y="1417320"/>
            <a:ext cx="345440" cy="345440"/>
          </a:xfrm>
          <a:prstGeom prst="rect">
            <a:avLst/>
          </a:prstGeom>
          <a:solidFill>
            <a:srgbClr val="FFFFFF"/>
          </a:solidFill>
          <a:ln w="508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1762760"/>
            <a:ext cx="345440" cy="345440"/>
          </a:xfrm>
          <a:prstGeom prst="rect">
            <a:avLst/>
          </a:prstGeom>
          <a:solidFill>
            <a:srgbClr val="FFFFFF"/>
          </a:solidFill>
          <a:ln w="508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76960" y="1762760"/>
            <a:ext cx="345440" cy="345440"/>
          </a:xfrm>
          <a:prstGeom prst="rect">
            <a:avLst/>
          </a:prstGeom>
          <a:solidFill>
            <a:srgbClr val="FFFFFF"/>
          </a:solidFill>
          <a:ln w="508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422400" y="1762760"/>
            <a:ext cx="345440" cy="345440"/>
          </a:xfrm>
          <a:prstGeom prst="rect">
            <a:avLst/>
          </a:prstGeom>
          <a:solidFill>
            <a:srgbClr val="FFFFFF"/>
          </a:solidFill>
          <a:ln w="508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767840" y="1762760"/>
            <a:ext cx="345440" cy="345440"/>
          </a:xfrm>
          <a:prstGeom prst="rect">
            <a:avLst/>
          </a:prstGeom>
          <a:solidFill>
            <a:srgbClr val="FFFFFF"/>
          </a:solidFill>
          <a:ln w="508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113280" y="1762760"/>
            <a:ext cx="345440" cy="345440"/>
          </a:xfrm>
          <a:prstGeom prst="rect">
            <a:avLst/>
          </a:prstGeom>
          <a:solidFill>
            <a:srgbClr val="FFFFFF"/>
          </a:solidFill>
          <a:ln w="508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58720" y="1762760"/>
            <a:ext cx="345440" cy="345440"/>
          </a:xfrm>
          <a:prstGeom prst="rect">
            <a:avLst/>
          </a:prstGeom>
          <a:solidFill>
            <a:srgbClr val="FFFFFF"/>
          </a:solidFill>
          <a:ln w="508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804160" y="1762760"/>
            <a:ext cx="345440" cy="345440"/>
          </a:xfrm>
          <a:prstGeom prst="rect">
            <a:avLst/>
          </a:prstGeom>
          <a:solidFill>
            <a:srgbClr val="FFFFFF"/>
          </a:solidFill>
          <a:ln w="508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149600" y="1762760"/>
            <a:ext cx="345440" cy="345440"/>
          </a:xfrm>
          <a:prstGeom prst="rect">
            <a:avLst/>
          </a:prstGeom>
          <a:solidFill>
            <a:srgbClr val="FFFFFF"/>
          </a:solidFill>
          <a:ln w="508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495039" y="1762760"/>
            <a:ext cx="345440" cy="345440"/>
          </a:xfrm>
          <a:prstGeom prst="rect">
            <a:avLst/>
          </a:prstGeom>
          <a:solidFill>
            <a:srgbClr val="FFFFFF"/>
          </a:solidFill>
          <a:ln w="508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2108200"/>
            <a:ext cx="345440" cy="345440"/>
          </a:xfrm>
          <a:prstGeom prst="rect">
            <a:avLst/>
          </a:prstGeom>
          <a:solidFill>
            <a:srgbClr val="FFFFFF"/>
          </a:solidFill>
          <a:ln w="508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76960" y="2108200"/>
            <a:ext cx="345440" cy="345440"/>
          </a:xfrm>
          <a:prstGeom prst="rect">
            <a:avLst/>
          </a:prstGeom>
          <a:solidFill>
            <a:srgbClr val="FFFFFF"/>
          </a:solidFill>
          <a:ln w="508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2400" y="2108200"/>
            <a:ext cx="345440" cy="345440"/>
          </a:xfrm>
          <a:prstGeom prst="rect">
            <a:avLst/>
          </a:prstGeom>
          <a:solidFill>
            <a:srgbClr val="FFFFFF"/>
          </a:solidFill>
          <a:ln w="508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767840" y="2108200"/>
            <a:ext cx="345440" cy="345440"/>
          </a:xfrm>
          <a:prstGeom prst="rect">
            <a:avLst/>
          </a:prstGeom>
          <a:solidFill>
            <a:srgbClr val="FFFFFF"/>
          </a:solidFill>
          <a:ln w="508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113280" y="2108200"/>
            <a:ext cx="345440" cy="345440"/>
          </a:xfrm>
          <a:prstGeom prst="rect">
            <a:avLst/>
          </a:prstGeom>
          <a:solidFill>
            <a:srgbClr val="FFFFFF"/>
          </a:solidFill>
          <a:ln w="508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458720" y="2108200"/>
            <a:ext cx="345440" cy="345440"/>
          </a:xfrm>
          <a:prstGeom prst="rect">
            <a:avLst/>
          </a:prstGeom>
          <a:solidFill>
            <a:srgbClr val="FFFFFF"/>
          </a:solidFill>
          <a:ln w="508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804160" y="2108200"/>
            <a:ext cx="345440" cy="345440"/>
          </a:xfrm>
          <a:prstGeom prst="rect">
            <a:avLst/>
          </a:prstGeom>
          <a:solidFill>
            <a:srgbClr val="FFFFFF"/>
          </a:solidFill>
          <a:ln w="508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149600" y="2108200"/>
            <a:ext cx="345440" cy="345440"/>
          </a:xfrm>
          <a:prstGeom prst="rect">
            <a:avLst/>
          </a:prstGeom>
          <a:solidFill>
            <a:srgbClr val="FFFFFF"/>
          </a:solidFill>
          <a:ln w="508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495039" y="2108200"/>
            <a:ext cx="345440" cy="345440"/>
          </a:xfrm>
          <a:prstGeom prst="rect">
            <a:avLst/>
          </a:prstGeom>
          <a:solidFill>
            <a:srgbClr val="FFFFFF"/>
          </a:solidFill>
          <a:ln w="508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31520" y="2453640"/>
            <a:ext cx="345440" cy="345440"/>
          </a:xfrm>
          <a:prstGeom prst="rect">
            <a:avLst/>
          </a:prstGeom>
          <a:solidFill>
            <a:srgbClr val="FFFFFF"/>
          </a:solidFill>
          <a:ln w="508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76960" y="2453640"/>
            <a:ext cx="345440" cy="345440"/>
          </a:xfrm>
          <a:prstGeom prst="rect">
            <a:avLst/>
          </a:prstGeom>
          <a:solidFill>
            <a:srgbClr val="FFFFFF"/>
          </a:solidFill>
          <a:ln w="508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422400" y="2453640"/>
            <a:ext cx="345440" cy="345440"/>
          </a:xfrm>
          <a:prstGeom prst="rect">
            <a:avLst/>
          </a:prstGeom>
          <a:solidFill>
            <a:srgbClr val="FFFFFF"/>
          </a:solidFill>
          <a:ln w="508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767840" y="2453640"/>
            <a:ext cx="345440" cy="345440"/>
          </a:xfrm>
          <a:prstGeom prst="rect">
            <a:avLst/>
          </a:prstGeom>
          <a:solidFill>
            <a:srgbClr val="FFFFFF"/>
          </a:solidFill>
          <a:ln w="508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113280" y="2453640"/>
            <a:ext cx="345440" cy="345440"/>
          </a:xfrm>
          <a:prstGeom prst="rect">
            <a:avLst/>
          </a:prstGeom>
          <a:solidFill>
            <a:srgbClr val="FFFFFF"/>
          </a:solidFill>
          <a:ln w="508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458720" y="2453640"/>
            <a:ext cx="345440" cy="345440"/>
          </a:xfrm>
          <a:prstGeom prst="rect">
            <a:avLst/>
          </a:prstGeom>
          <a:solidFill>
            <a:srgbClr val="FFFFFF"/>
          </a:solidFill>
          <a:ln w="508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804160" y="2453640"/>
            <a:ext cx="345440" cy="345440"/>
          </a:xfrm>
          <a:prstGeom prst="rect">
            <a:avLst/>
          </a:prstGeom>
          <a:solidFill>
            <a:srgbClr val="FFFFFF"/>
          </a:solidFill>
          <a:ln w="508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149600" y="2453640"/>
            <a:ext cx="345440" cy="345440"/>
          </a:xfrm>
          <a:prstGeom prst="rect">
            <a:avLst/>
          </a:prstGeom>
          <a:solidFill>
            <a:srgbClr val="FFFFFF"/>
          </a:solidFill>
          <a:ln w="508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495039" y="2453640"/>
            <a:ext cx="345440" cy="345440"/>
          </a:xfrm>
          <a:prstGeom prst="rect">
            <a:avLst/>
          </a:prstGeom>
          <a:solidFill>
            <a:srgbClr val="FFFFFF"/>
          </a:solidFill>
          <a:ln w="508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1520" y="2799080"/>
            <a:ext cx="345440" cy="345440"/>
          </a:xfrm>
          <a:prstGeom prst="rect">
            <a:avLst/>
          </a:prstGeom>
          <a:solidFill>
            <a:srgbClr val="FFFFFF"/>
          </a:solidFill>
          <a:ln w="508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76960" y="2799080"/>
            <a:ext cx="345440" cy="345440"/>
          </a:xfrm>
          <a:prstGeom prst="rect">
            <a:avLst/>
          </a:prstGeom>
          <a:solidFill>
            <a:srgbClr val="FFFFFF"/>
          </a:solidFill>
          <a:ln w="508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422400" y="2799080"/>
            <a:ext cx="345440" cy="345440"/>
          </a:xfrm>
          <a:prstGeom prst="rect">
            <a:avLst/>
          </a:prstGeom>
          <a:solidFill>
            <a:srgbClr val="FFFFFF"/>
          </a:solidFill>
          <a:ln w="508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767840" y="2799080"/>
            <a:ext cx="345440" cy="345440"/>
          </a:xfrm>
          <a:prstGeom prst="rect">
            <a:avLst/>
          </a:prstGeom>
          <a:solidFill>
            <a:srgbClr val="FFFFFF"/>
          </a:solidFill>
          <a:ln w="508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113280" y="2799080"/>
            <a:ext cx="345440" cy="345440"/>
          </a:xfrm>
          <a:prstGeom prst="rect">
            <a:avLst/>
          </a:prstGeom>
          <a:solidFill>
            <a:srgbClr val="FFFFFF"/>
          </a:solidFill>
          <a:ln w="508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458720" y="2799080"/>
            <a:ext cx="345440" cy="345440"/>
          </a:xfrm>
          <a:prstGeom prst="rect">
            <a:avLst/>
          </a:prstGeom>
          <a:solidFill>
            <a:srgbClr val="FFFFFF"/>
          </a:solidFill>
          <a:ln w="508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804160" y="2799080"/>
            <a:ext cx="345440" cy="345440"/>
          </a:xfrm>
          <a:prstGeom prst="rect">
            <a:avLst/>
          </a:prstGeom>
          <a:solidFill>
            <a:srgbClr val="FFFFFF"/>
          </a:solidFill>
          <a:ln w="508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149600" y="2799080"/>
            <a:ext cx="345440" cy="345440"/>
          </a:xfrm>
          <a:prstGeom prst="rect">
            <a:avLst/>
          </a:prstGeom>
          <a:solidFill>
            <a:srgbClr val="FFFFFF"/>
          </a:solidFill>
          <a:ln w="508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495039" y="2799080"/>
            <a:ext cx="345440" cy="345440"/>
          </a:xfrm>
          <a:prstGeom prst="rect">
            <a:avLst/>
          </a:prstGeom>
          <a:solidFill>
            <a:srgbClr val="FFFFFF"/>
          </a:solidFill>
          <a:ln w="508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31520" y="3144520"/>
            <a:ext cx="345440" cy="345440"/>
          </a:xfrm>
          <a:prstGeom prst="rect">
            <a:avLst/>
          </a:prstGeom>
          <a:solidFill>
            <a:srgbClr val="FFFFFF"/>
          </a:solidFill>
          <a:ln w="508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076960" y="3144520"/>
            <a:ext cx="345440" cy="345440"/>
          </a:xfrm>
          <a:prstGeom prst="rect">
            <a:avLst/>
          </a:prstGeom>
          <a:solidFill>
            <a:srgbClr val="FFFFFF"/>
          </a:solidFill>
          <a:ln w="508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422400" y="3144520"/>
            <a:ext cx="345440" cy="345440"/>
          </a:xfrm>
          <a:prstGeom prst="rect">
            <a:avLst/>
          </a:prstGeom>
          <a:solidFill>
            <a:srgbClr val="FFFFFF"/>
          </a:solidFill>
          <a:ln w="508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767840" y="3144520"/>
            <a:ext cx="345440" cy="345440"/>
          </a:xfrm>
          <a:prstGeom prst="rect">
            <a:avLst/>
          </a:prstGeom>
          <a:solidFill>
            <a:srgbClr val="FFFFFF"/>
          </a:solidFill>
          <a:ln w="508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113280" y="3144520"/>
            <a:ext cx="345440" cy="345440"/>
          </a:xfrm>
          <a:prstGeom prst="rect">
            <a:avLst/>
          </a:prstGeom>
          <a:solidFill>
            <a:srgbClr val="FFFFFF"/>
          </a:solidFill>
          <a:ln w="508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458720" y="3144520"/>
            <a:ext cx="345440" cy="345440"/>
          </a:xfrm>
          <a:prstGeom prst="rect">
            <a:avLst/>
          </a:prstGeom>
          <a:solidFill>
            <a:srgbClr val="FFFFFF"/>
          </a:solidFill>
          <a:ln w="508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2804160" y="3144520"/>
            <a:ext cx="345440" cy="345440"/>
          </a:xfrm>
          <a:prstGeom prst="rect">
            <a:avLst/>
          </a:prstGeom>
          <a:solidFill>
            <a:srgbClr val="FFFFFF"/>
          </a:solidFill>
          <a:ln w="508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3149600" y="3144520"/>
            <a:ext cx="345440" cy="345440"/>
          </a:xfrm>
          <a:prstGeom prst="rect">
            <a:avLst/>
          </a:prstGeom>
          <a:solidFill>
            <a:srgbClr val="FFFFFF"/>
          </a:solidFill>
          <a:ln w="508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495039" y="3144520"/>
            <a:ext cx="345440" cy="345440"/>
          </a:xfrm>
          <a:prstGeom prst="rect">
            <a:avLst/>
          </a:prstGeom>
          <a:solidFill>
            <a:srgbClr val="FFFFFF"/>
          </a:solidFill>
          <a:ln w="508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31520" y="3489960"/>
            <a:ext cx="345440" cy="345440"/>
          </a:xfrm>
          <a:prstGeom prst="rect">
            <a:avLst/>
          </a:prstGeom>
          <a:solidFill>
            <a:srgbClr val="FFFFFF"/>
          </a:solidFill>
          <a:ln w="508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076960" y="3489960"/>
            <a:ext cx="345440" cy="345440"/>
          </a:xfrm>
          <a:prstGeom prst="rect">
            <a:avLst/>
          </a:prstGeom>
          <a:solidFill>
            <a:srgbClr val="FFFFFF"/>
          </a:solidFill>
          <a:ln w="508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422400" y="3489960"/>
            <a:ext cx="345440" cy="345440"/>
          </a:xfrm>
          <a:prstGeom prst="rect">
            <a:avLst/>
          </a:prstGeom>
          <a:solidFill>
            <a:srgbClr val="FFFFFF"/>
          </a:solidFill>
          <a:ln w="508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767840" y="3489960"/>
            <a:ext cx="345440" cy="345440"/>
          </a:xfrm>
          <a:prstGeom prst="rect">
            <a:avLst/>
          </a:prstGeom>
          <a:solidFill>
            <a:srgbClr val="FFFFFF"/>
          </a:solidFill>
          <a:ln w="508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2113280" y="3489960"/>
            <a:ext cx="345440" cy="345440"/>
          </a:xfrm>
          <a:prstGeom prst="rect">
            <a:avLst/>
          </a:prstGeom>
          <a:solidFill>
            <a:srgbClr val="FFFFFF"/>
          </a:solidFill>
          <a:ln w="508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2458720" y="3489960"/>
            <a:ext cx="345440" cy="345440"/>
          </a:xfrm>
          <a:prstGeom prst="rect">
            <a:avLst/>
          </a:prstGeom>
          <a:solidFill>
            <a:srgbClr val="FFFFFF"/>
          </a:solidFill>
          <a:ln w="508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2804160" y="3489960"/>
            <a:ext cx="345440" cy="345440"/>
          </a:xfrm>
          <a:prstGeom prst="rect">
            <a:avLst/>
          </a:prstGeom>
          <a:solidFill>
            <a:srgbClr val="FFFFFF"/>
          </a:solidFill>
          <a:ln w="508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3149600" y="3489960"/>
            <a:ext cx="345440" cy="345440"/>
          </a:xfrm>
          <a:prstGeom prst="rect">
            <a:avLst/>
          </a:prstGeom>
          <a:solidFill>
            <a:srgbClr val="FFFFFF"/>
          </a:solidFill>
          <a:ln w="508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3495039" y="3489960"/>
            <a:ext cx="345440" cy="345440"/>
          </a:xfrm>
          <a:prstGeom prst="rect">
            <a:avLst/>
          </a:prstGeom>
          <a:solidFill>
            <a:srgbClr val="FFFFFF"/>
          </a:solidFill>
          <a:ln w="508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31520" y="3835400"/>
            <a:ext cx="345440" cy="345440"/>
          </a:xfrm>
          <a:prstGeom prst="rect">
            <a:avLst/>
          </a:prstGeom>
          <a:solidFill>
            <a:srgbClr val="FFFFFF"/>
          </a:solidFill>
          <a:ln w="508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076960" y="3835400"/>
            <a:ext cx="345440" cy="345440"/>
          </a:xfrm>
          <a:prstGeom prst="rect">
            <a:avLst/>
          </a:prstGeom>
          <a:solidFill>
            <a:srgbClr val="FFFFFF"/>
          </a:solidFill>
          <a:ln w="508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422400" y="3835400"/>
            <a:ext cx="345440" cy="345440"/>
          </a:xfrm>
          <a:prstGeom prst="rect">
            <a:avLst/>
          </a:prstGeom>
          <a:solidFill>
            <a:srgbClr val="FFFFFF"/>
          </a:solidFill>
          <a:ln w="508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767840" y="3835400"/>
            <a:ext cx="345440" cy="345440"/>
          </a:xfrm>
          <a:prstGeom prst="rect">
            <a:avLst/>
          </a:prstGeom>
          <a:solidFill>
            <a:srgbClr val="FFFFFF"/>
          </a:solidFill>
          <a:ln w="508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2113280" y="3835400"/>
            <a:ext cx="345440" cy="345440"/>
          </a:xfrm>
          <a:prstGeom prst="rect">
            <a:avLst/>
          </a:prstGeom>
          <a:solidFill>
            <a:srgbClr val="FFFFFF"/>
          </a:solidFill>
          <a:ln w="508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2458720" y="3835400"/>
            <a:ext cx="345440" cy="345440"/>
          </a:xfrm>
          <a:prstGeom prst="rect">
            <a:avLst/>
          </a:prstGeom>
          <a:solidFill>
            <a:srgbClr val="FFFFFF"/>
          </a:solidFill>
          <a:ln w="508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2804160" y="3835400"/>
            <a:ext cx="345440" cy="345440"/>
          </a:xfrm>
          <a:prstGeom prst="rect">
            <a:avLst/>
          </a:prstGeom>
          <a:solidFill>
            <a:srgbClr val="FFFFFF"/>
          </a:solidFill>
          <a:ln w="508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3149600" y="3835400"/>
            <a:ext cx="345440" cy="345440"/>
          </a:xfrm>
          <a:prstGeom prst="rect">
            <a:avLst/>
          </a:prstGeom>
          <a:solidFill>
            <a:srgbClr val="FFFFFF"/>
          </a:solidFill>
          <a:ln w="508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3495039" y="3835400"/>
            <a:ext cx="345440" cy="345440"/>
          </a:xfrm>
          <a:prstGeom prst="rect">
            <a:avLst/>
          </a:prstGeom>
          <a:solidFill>
            <a:srgbClr val="FFFFFF"/>
          </a:solidFill>
          <a:ln w="508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31520" y="4180839"/>
            <a:ext cx="345440" cy="345440"/>
          </a:xfrm>
          <a:prstGeom prst="rect">
            <a:avLst/>
          </a:prstGeom>
          <a:solidFill>
            <a:srgbClr val="FFFFFF"/>
          </a:solidFill>
          <a:ln w="508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1076960" y="4180839"/>
            <a:ext cx="345440" cy="345440"/>
          </a:xfrm>
          <a:prstGeom prst="rect">
            <a:avLst/>
          </a:prstGeom>
          <a:solidFill>
            <a:srgbClr val="FFFFFF"/>
          </a:solidFill>
          <a:ln w="508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1422400" y="4180839"/>
            <a:ext cx="345440" cy="345440"/>
          </a:xfrm>
          <a:prstGeom prst="rect">
            <a:avLst/>
          </a:prstGeom>
          <a:solidFill>
            <a:srgbClr val="FFFFFF"/>
          </a:solidFill>
          <a:ln w="508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1767840" y="4180839"/>
            <a:ext cx="345440" cy="345440"/>
          </a:xfrm>
          <a:prstGeom prst="rect">
            <a:avLst/>
          </a:prstGeom>
          <a:solidFill>
            <a:srgbClr val="FFFFFF"/>
          </a:solidFill>
          <a:ln w="508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2113280" y="4180839"/>
            <a:ext cx="345440" cy="345440"/>
          </a:xfrm>
          <a:prstGeom prst="rect">
            <a:avLst/>
          </a:prstGeom>
          <a:solidFill>
            <a:srgbClr val="FFFFFF"/>
          </a:solidFill>
          <a:ln w="508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2458720" y="4180839"/>
            <a:ext cx="345440" cy="345440"/>
          </a:xfrm>
          <a:prstGeom prst="rect">
            <a:avLst/>
          </a:prstGeom>
          <a:solidFill>
            <a:srgbClr val="FFFFFF"/>
          </a:solidFill>
          <a:ln w="508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2804160" y="4180839"/>
            <a:ext cx="345440" cy="345440"/>
          </a:xfrm>
          <a:prstGeom prst="rect">
            <a:avLst/>
          </a:prstGeom>
          <a:solidFill>
            <a:srgbClr val="FFFFFF"/>
          </a:solidFill>
          <a:ln w="508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3149600" y="4180839"/>
            <a:ext cx="345440" cy="345440"/>
          </a:xfrm>
          <a:prstGeom prst="rect">
            <a:avLst/>
          </a:prstGeom>
          <a:solidFill>
            <a:srgbClr val="FFFFFF"/>
          </a:solidFill>
          <a:ln w="508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3495039" y="4180839"/>
            <a:ext cx="345440" cy="345440"/>
          </a:xfrm>
          <a:prstGeom prst="rect">
            <a:avLst/>
          </a:prstGeom>
          <a:solidFill>
            <a:srgbClr val="FFFFFF"/>
          </a:solidFill>
          <a:ln w="508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31520" y="1421892"/>
            <a:ext cx="345440" cy="345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4233C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76960" y="1421892"/>
            <a:ext cx="345440" cy="345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4233C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113280" y="1421892"/>
            <a:ext cx="345440" cy="345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4233C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31520" y="1767332"/>
            <a:ext cx="345440" cy="345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4233C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767840" y="1767332"/>
            <a:ext cx="345440" cy="345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4233C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113280" y="1767332"/>
            <a:ext cx="345440" cy="345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4233C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458720" y="1767332"/>
            <a:ext cx="345440" cy="345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4233C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76960" y="2112771"/>
            <a:ext cx="345440" cy="345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4233C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422400" y="2112771"/>
            <a:ext cx="345440" cy="345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4233C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149600" y="2112771"/>
            <a:ext cx="345440" cy="345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4233C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31520" y="2458212"/>
            <a:ext cx="345440" cy="345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4233C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113280" y="2458212"/>
            <a:ext cx="345440" cy="345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4233C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495039" y="2458212"/>
            <a:ext cx="345440" cy="345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4233C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31520" y="2803651"/>
            <a:ext cx="345440" cy="345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4233C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767840" y="2803651"/>
            <a:ext cx="345440" cy="345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4233C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458720" y="2803651"/>
            <a:ext cx="345440" cy="345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4233C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3495039" y="2803651"/>
            <a:ext cx="345440" cy="345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4233C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731520" y="3149092"/>
            <a:ext cx="345440" cy="345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4233C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2113280" y="3149092"/>
            <a:ext cx="345440" cy="345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4233C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495039" y="3149092"/>
            <a:ext cx="345440" cy="345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4233C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076960" y="3494531"/>
            <a:ext cx="345440" cy="345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4233C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2804160" y="3494531"/>
            <a:ext cx="345440" cy="345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4233C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3149600" y="3494531"/>
            <a:ext cx="345440" cy="345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4233C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767840" y="3839972"/>
            <a:ext cx="345440" cy="345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4233C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2113280" y="3839972"/>
            <a:ext cx="345440" cy="345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4233C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2458720" y="3839972"/>
            <a:ext cx="345440" cy="345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4233C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3495039" y="3839972"/>
            <a:ext cx="345440" cy="345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4233C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2113280" y="4185411"/>
            <a:ext cx="345440" cy="345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4233C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3149600" y="4185411"/>
            <a:ext cx="345440" cy="345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4233C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3495039" y="4185411"/>
            <a:ext cx="345440" cy="345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4233C"/>
                </a:solidFill>
                <a:latin typeface="Aptos"/>
              </a:defRPr>
            </a:pPr>
            <a:r>
              <a:t>9</a:t>
            </a:r>
          </a:p>
        </p:txBody>
      </p:sp>
      <p:cxnSp>
        <p:nvCxnSpPr>
          <p:cNvPr id="117" name="Connector 116"/>
          <p:cNvCxnSpPr/>
          <p:nvPr/>
        </p:nvCxnSpPr>
        <p:spPr>
          <a:xfrm>
            <a:off x="731520" y="1417320"/>
            <a:ext cx="0" cy="3108960"/>
          </a:xfrm>
          <a:prstGeom prst="line">
            <a:avLst/>
          </a:prstGeom>
          <a:ln w="25400">
            <a:solidFill>
              <a:srgbClr val="1423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731520" y="1417320"/>
            <a:ext cx="3108960" cy="0"/>
          </a:xfrm>
          <a:prstGeom prst="line">
            <a:avLst/>
          </a:prstGeom>
          <a:ln w="25400">
            <a:solidFill>
              <a:srgbClr val="1423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1767840" y="1417320"/>
            <a:ext cx="0" cy="3108960"/>
          </a:xfrm>
          <a:prstGeom prst="line">
            <a:avLst/>
          </a:prstGeom>
          <a:ln w="25400">
            <a:solidFill>
              <a:srgbClr val="1423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731520" y="2453640"/>
            <a:ext cx="3108960" cy="0"/>
          </a:xfrm>
          <a:prstGeom prst="line">
            <a:avLst/>
          </a:prstGeom>
          <a:ln w="25400">
            <a:solidFill>
              <a:srgbClr val="1423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2804160" y="1417320"/>
            <a:ext cx="0" cy="3108960"/>
          </a:xfrm>
          <a:prstGeom prst="line">
            <a:avLst/>
          </a:prstGeom>
          <a:ln w="25400">
            <a:solidFill>
              <a:srgbClr val="1423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731520" y="3489960"/>
            <a:ext cx="3108960" cy="0"/>
          </a:xfrm>
          <a:prstGeom prst="line">
            <a:avLst/>
          </a:prstGeom>
          <a:ln w="25400">
            <a:solidFill>
              <a:srgbClr val="1423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3840480" y="1417320"/>
            <a:ext cx="0" cy="3108960"/>
          </a:xfrm>
          <a:prstGeom prst="line">
            <a:avLst/>
          </a:prstGeom>
          <a:ln w="25400">
            <a:solidFill>
              <a:srgbClr val="1423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731520" y="4526280"/>
            <a:ext cx="3108960" cy="0"/>
          </a:xfrm>
          <a:prstGeom prst="line">
            <a:avLst/>
          </a:prstGeom>
          <a:ln w="25400">
            <a:solidFill>
              <a:srgbClr val="1423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Rounded Rectangle 124"/>
          <p:cNvSpPr/>
          <p:nvPr/>
        </p:nvSpPr>
        <p:spPr>
          <a:xfrm>
            <a:off x="4251960" y="1325880"/>
            <a:ext cx="32461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251960" y="1325880"/>
            <a:ext cx="73152" cy="914400"/>
          </a:xfrm>
          <a:prstGeom prst="rect">
            <a:avLst/>
          </a:prstGeom>
          <a:solidFill>
            <a:srgbClr val="207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4453128" y="1417319"/>
            <a:ext cx="2209800" cy="3524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1">
                <a:solidFill>
                  <a:srgbClr val="14233C"/>
                </a:solidFill>
                <a:latin typeface="Aptos"/>
              </a:defRPr>
            </a:pPr>
            <a:r>
              <a:rPr lang="en-US" altLang="en-US"/>
              <a:t>Algorithm Selection</a:t>
            </a:r>
            <a:endParaRPr lang="en-US" altLang="en-US"/>
          </a:p>
        </p:txBody>
      </p:sp>
      <p:sp>
        <p:nvSpPr>
          <p:cNvPr id="128" name="TextBox 127"/>
          <p:cNvSpPr txBox="1"/>
          <p:nvPr/>
        </p:nvSpPr>
        <p:spPr>
          <a:xfrm>
            <a:off x="4453255" y="1737360"/>
            <a:ext cx="2880360" cy="46609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500">
                <a:solidFill>
                  <a:srgbClr val="282D32"/>
                </a:solidFill>
                <a:latin typeface="Aptos"/>
              </a:defRPr>
            </a:pPr>
            <a:r>
              <a:rPr lang="en-US" altLang="en-US"/>
              <a:t>Determined from puzzle characteristics</a:t>
            </a:r>
            <a:endParaRPr lang="en-US" altLang="en-US"/>
          </a:p>
        </p:txBody>
      </p:sp>
      <p:sp>
        <p:nvSpPr>
          <p:cNvPr id="129" name="Rounded Rectangle 128"/>
          <p:cNvSpPr/>
          <p:nvPr/>
        </p:nvSpPr>
        <p:spPr>
          <a:xfrm>
            <a:off x="4251960" y="2468880"/>
            <a:ext cx="32461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251960" y="2468880"/>
            <a:ext cx="73152" cy="914400"/>
          </a:xfrm>
          <a:prstGeom prst="rect">
            <a:avLst/>
          </a:prstGeom>
          <a:solidFill>
            <a:srgbClr val="378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4453128" y="2468880"/>
            <a:ext cx="1891665" cy="3524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1">
                <a:solidFill>
                  <a:srgbClr val="14233C"/>
                </a:solidFill>
                <a:latin typeface="Aptos"/>
              </a:defRPr>
            </a:pPr>
            <a:r>
              <a:rPr lang="en-US" altLang="en-US"/>
              <a:t>Expected Output</a:t>
            </a:r>
            <a:endParaRPr lang="en-US" altLang="en-US"/>
          </a:p>
        </p:txBody>
      </p:sp>
      <p:sp>
        <p:nvSpPr>
          <p:cNvPr id="132" name="TextBox 131"/>
          <p:cNvSpPr txBox="1"/>
          <p:nvPr/>
        </p:nvSpPr>
        <p:spPr>
          <a:xfrm>
            <a:off x="4453255" y="2799080"/>
            <a:ext cx="2880360" cy="46609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500">
                <a:solidFill>
                  <a:srgbClr val="282D32"/>
                </a:solidFill>
                <a:latin typeface="Aptos"/>
              </a:defRPr>
            </a:pPr>
            <a:r>
              <a:rPr lang="en-US" altLang="en-US" sz="1600">
                <a:sym typeface="+mn-ea"/>
              </a:rPr>
              <a:t>Completed Sudoku + selected algorithm</a:t>
            </a:r>
            <a:endParaRPr lang="en-US" altLang="en-US" sz="1600">
              <a:sym typeface="+mn-ea"/>
            </a:endParaRPr>
          </a:p>
        </p:txBody>
      </p:sp>
      <p:sp>
        <p:nvSpPr>
          <p:cNvPr id="133" name="Rounded Rectangle 132"/>
          <p:cNvSpPr/>
          <p:nvPr/>
        </p:nvSpPr>
        <p:spPr>
          <a:xfrm>
            <a:off x="4251960" y="3611880"/>
            <a:ext cx="32461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251960" y="3611880"/>
            <a:ext cx="73152" cy="914400"/>
          </a:xfrm>
          <a:prstGeom prst="rect">
            <a:avLst/>
          </a:prstGeom>
          <a:solidFill>
            <a:srgbClr val="2C6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4453128" y="3657600"/>
            <a:ext cx="2880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33C"/>
                </a:solidFill>
                <a:latin typeface="Aptos"/>
              </a:defRPr>
            </a:pPr>
            <a:r>
              <a:t>Performance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4453128" y="3995928"/>
            <a:ext cx="288036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82D32"/>
                </a:solidFill>
                <a:latin typeface="Aptos"/>
              </a:defRPr>
            </a:pPr>
            <a:r>
              <a:rPr sz="1400"/>
              <a:t>Time: &lt;to be measured&gt;</a:t>
            </a:r>
            <a:br>
              <a:rPr sz="1400"/>
            </a:br>
            <a:r>
              <a:rPr sz="1400"/>
              <a:t>Nodes: &lt;to be measured&gt;</a:t>
            </a:r>
            <a:endParaRPr sz="1400"/>
          </a:p>
        </p:txBody>
      </p:sp>
      <p:sp>
        <p:nvSpPr>
          <p:cNvPr id="137" name="Rectangle 136"/>
          <p:cNvSpPr/>
          <p:nvPr/>
        </p:nvSpPr>
        <p:spPr>
          <a:xfrm>
            <a:off x="7818120" y="1325880"/>
            <a:ext cx="2057400" cy="502920"/>
          </a:xfrm>
          <a:prstGeom prst="rect">
            <a:avLst/>
          </a:prstGeom>
          <a:solidFill>
            <a:srgbClr val="1423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Solver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9875520" y="1325880"/>
            <a:ext cx="1005840" cy="502920"/>
          </a:xfrm>
          <a:prstGeom prst="rect">
            <a:avLst/>
          </a:prstGeom>
          <a:solidFill>
            <a:srgbClr val="1423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Time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10881360" y="1325880"/>
            <a:ext cx="1005840" cy="502920"/>
          </a:xfrm>
          <a:prstGeom prst="rect">
            <a:avLst/>
          </a:prstGeom>
          <a:solidFill>
            <a:srgbClr val="1423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Nodes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7818120" y="1828800"/>
            <a:ext cx="2057400" cy="530352"/>
          </a:xfrm>
          <a:prstGeom prst="rect">
            <a:avLst/>
          </a:prstGeom>
          <a:solidFill>
            <a:srgbClr val="F5F7FA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282D32"/>
                </a:solidFill>
                <a:latin typeface="Aptos"/>
              </a:defRPr>
            </a:pPr>
            <a:r>
              <a:t>Backtracking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9875520" y="1828800"/>
            <a:ext cx="1005840" cy="530352"/>
          </a:xfrm>
          <a:prstGeom prst="rect">
            <a:avLst/>
          </a:prstGeom>
          <a:solidFill>
            <a:srgbClr val="F5F7FA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282D32"/>
                </a:solidFill>
                <a:latin typeface="Aptos"/>
              </a:defRPr>
            </a:pPr>
            <a:r>
              <a:t>TBD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10881360" y="1828800"/>
            <a:ext cx="1005840" cy="530352"/>
          </a:xfrm>
          <a:prstGeom prst="rect">
            <a:avLst/>
          </a:prstGeom>
          <a:solidFill>
            <a:srgbClr val="F5F7FA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282D32"/>
                </a:solidFill>
                <a:latin typeface="Aptos"/>
              </a:defRPr>
            </a:pPr>
            <a:r>
              <a:t>TBD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7818120" y="2359152"/>
            <a:ext cx="2057400" cy="530352"/>
          </a:xfrm>
          <a:prstGeom prst="rect">
            <a:avLst/>
          </a:prstGeom>
          <a:solidFill>
            <a:srgbClr val="FFFFFF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282D32"/>
                </a:solidFill>
                <a:latin typeface="Aptos"/>
              </a:defRPr>
            </a:pPr>
            <a:r>
              <a:t>CSP + MRV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9875520" y="2359152"/>
            <a:ext cx="1005840" cy="530352"/>
          </a:xfrm>
          <a:prstGeom prst="rect">
            <a:avLst/>
          </a:prstGeom>
          <a:solidFill>
            <a:srgbClr val="FFFFFF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282D32"/>
                </a:solidFill>
                <a:latin typeface="Aptos"/>
              </a:defRPr>
            </a:pPr>
            <a:r>
              <a:t>TBD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10881360" y="2359152"/>
            <a:ext cx="1005840" cy="530352"/>
          </a:xfrm>
          <a:prstGeom prst="rect">
            <a:avLst/>
          </a:prstGeom>
          <a:solidFill>
            <a:srgbClr val="FFFFFF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282D32"/>
                </a:solidFill>
                <a:latin typeface="Aptos"/>
              </a:defRPr>
            </a:pPr>
            <a:r>
              <a:t>TBD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7818120" y="2889504"/>
            <a:ext cx="2057400" cy="530352"/>
          </a:xfrm>
          <a:prstGeom prst="rect">
            <a:avLst/>
          </a:prstGeom>
          <a:solidFill>
            <a:srgbClr val="F5F7FA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282D32"/>
                </a:solidFill>
                <a:latin typeface="Aptos"/>
              </a:defRPr>
            </a:pPr>
            <a:r>
              <a:t>Min-Conflicts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9875520" y="2889504"/>
            <a:ext cx="1005840" cy="530352"/>
          </a:xfrm>
          <a:prstGeom prst="rect">
            <a:avLst/>
          </a:prstGeom>
          <a:solidFill>
            <a:srgbClr val="F5F7FA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282D32"/>
                </a:solidFill>
                <a:latin typeface="Aptos"/>
              </a:defRPr>
            </a:pPr>
            <a:r>
              <a:t>TBD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10881360" y="2889504"/>
            <a:ext cx="1005840" cy="530352"/>
          </a:xfrm>
          <a:prstGeom prst="rect">
            <a:avLst/>
          </a:prstGeom>
          <a:solidFill>
            <a:srgbClr val="F5F7FA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282D32"/>
                </a:solidFill>
                <a:latin typeface="Aptos"/>
              </a:defRPr>
            </a:pPr>
            <a:r>
              <a:t>TBD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7818120" y="3657600"/>
            <a:ext cx="40690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7818120" y="3657600"/>
            <a:ext cx="73152" cy="1554480"/>
          </a:xfrm>
          <a:prstGeom prst="rect">
            <a:avLst/>
          </a:prstGeom>
          <a:solidFill>
            <a:srgbClr val="E18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8019288" y="3794760"/>
            <a:ext cx="3703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33C"/>
                </a:solidFill>
                <a:latin typeface="Aptos"/>
              </a:defRPr>
            </a:pPr>
            <a:r>
              <a:t>Final Output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8019288" y="4224528"/>
            <a:ext cx="3703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82D32"/>
                </a:solidFill>
                <a:latin typeface="Aptos"/>
              </a:defRPr>
            </a:pPr>
            <a:r>
              <a:t>1. Completed Sudoku</a:t>
            </a:r>
            <a:br/>
            <a:r>
              <a:t>2. Algorithm selected</a:t>
            </a:r>
            <a:br/>
            <a:r>
              <a:t>3. Search/performance metrics</a:t>
            </a:r>
            <a:br/>
            <a:r>
              <a:t>4. Comparative benchmark report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731520" y="5074920"/>
            <a:ext cx="67665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731520" y="5074920"/>
            <a:ext cx="73152" cy="822960"/>
          </a:xfrm>
          <a:prstGeom prst="rect">
            <a:avLst/>
          </a:prstGeom>
          <a:solidFill>
            <a:srgbClr val="14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932688" y="521208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33C"/>
                </a:solidFill>
                <a:latin typeface="Aptos"/>
              </a:defRPr>
            </a:pPr>
            <a:r>
              <a:t>Important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932688" y="5641848"/>
            <a:ext cx="64008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82D32"/>
                </a:solidFill>
                <a:latin typeface="Aptos"/>
              </a:defRPr>
            </a:pPr>
            <a:r>
              <a:t>Numerical results will be populated after running the same test set through all solvers.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10972800" y="6519672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8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  <a:latin typeface="Aptos Display"/>
              </a:defRPr>
            </a:pPr>
            <a:r>
              <a:t>11. Expected Contribution &amp; Future 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512064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25880"/>
            <a:ext cx="73152" cy="3566160"/>
          </a:xfrm>
          <a:prstGeom prst="rect">
            <a:avLst/>
          </a:prstGeom>
          <a:solidFill>
            <a:srgbClr val="378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463039"/>
            <a:ext cx="47548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33C"/>
                </a:solidFill>
                <a:latin typeface="Aptos"/>
              </a:defRPr>
            </a:pPr>
            <a:r>
              <a:t>Expected Contribution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1892807"/>
            <a:ext cx="4754879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82D32"/>
                </a:solidFill>
                <a:latin typeface="Aptos"/>
              </a:defRPr>
            </a:pPr>
            <a:r>
              <a:t>• A syllabus-aligned Sudoku CSP model</a:t>
            </a:r>
            <a:br/>
            <a:r>
              <a:t>• Three complementary AI solving strategies</a:t>
            </a:r>
            <a:br/>
            <a:r>
              <a:t>• A feature-based adaptive selector</a:t>
            </a:r>
            <a:br/>
            <a:r>
              <a:t>• A reproducible benchmark framework</a:t>
            </a:r>
            <a:br/>
            <a:r>
              <a:t>• Evidence on when each strategy is effective</a:t>
            </a:r>
            <a:br/>
            <a:br/>
            <a:r>
              <a:t>The project evaluates adaptation experimentally rather than assuming one algorithm is universally best.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25880"/>
            <a:ext cx="512064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72200" y="1325880"/>
            <a:ext cx="73152" cy="3566160"/>
          </a:xfrm>
          <a:prstGeom prst="rect">
            <a:avLst/>
          </a:prstGeom>
          <a:solidFill>
            <a:srgbClr val="2C6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3368" y="1463039"/>
            <a:ext cx="475487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33C"/>
                </a:solidFill>
                <a:latin typeface="Aptos"/>
              </a:defRPr>
            </a:pPr>
            <a:r>
              <a:t>Possible Extensions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3368" y="1892807"/>
            <a:ext cx="4754879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82D32"/>
                </a:solidFill>
                <a:latin typeface="Aptos"/>
              </a:defRPr>
            </a:pPr>
            <a:r>
              <a:t>• Learn the selection policy from benchmark data</a:t>
            </a:r>
            <a:br/>
            <a:r>
              <a:t>• Add AC-3 / stronger consistency techniques</a:t>
            </a:r>
            <a:br/>
            <a:r>
              <a:t>• Add image-based Sudoku recognition</a:t>
            </a:r>
            <a:br/>
            <a:r>
              <a:t>• Support larger or variant Sudoku boards</a:t>
            </a:r>
            <a:br/>
            <a:r>
              <a:t>• Visualize search trees and candidate domains</a:t>
            </a:r>
            <a:br/>
            <a:r>
              <a:t>• Add puzzle generation and difficulty estimation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519672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8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C6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33C"/>
                </a:solidFill>
                <a:latin typeface="Aptos Display"/>
              </a:defRPr>
            </a:pPr>
            <a:r>
              <a:t>12. 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400">
                <a:solidFill>
                  <a:srgbClr val="282D32"/>
                </a:solidFill>
                <a:latin typeface="Aptos"/>
              </a:defRPr>
            </a:pPr>
            <a:r>
              <a:t>[1] Teaching Artificial Intelligence across the Computer Science Curriculum Using Sudoku as a Problem Domain, FLAIRS-2007. https://cdn.aaai.org/FLAIRS/2007/FLAIRS07-066.pdf</a:t>
            </a:r>
          </a:p>
          <a:p>
            <a:pPr>
              <a:spcAft>
                <a:spcPts val="1600"/>
              </a:spcAft>
              <a:defRPr sz="1400">
                <a:solidFill>
                  <a:srgbClr val="282D32"/>
                </a:solidFill>
                <a:latin typeface="Aptos"/>
              </a:defRPr>
            </a:pPr>
            <a:r>
              <a:t>[2] An Interactive Constraint-Based Approach to Sudoku, AAAI-2007. https://cdn.aaai.org/AAAI/2007/AAAI07-362.pdf</a:t>
            </a:r>
          </a:p>
          <a:p>
            <a:pPr>
              <a:spcAft>
                <a:spcPts val="1600"/>
              </a:spcAft>
              <a:defRPr sz="1400">
                <a:solidFill>
                  <a:srgbClr val="282D32"/>
                </a:solidFill>
                <a:latin typeface="Aptos"/>
              </a:defRPr>
            </a:pPr>
            <a:r>
              <a:t>[3] Perception-based constraint solving for sudoku images, Constraints / Springer, 2024. https://doi.org/10.1007/s10601-024-09372-9</a:t>
            </a:r>
          </a:p>
          <a:p>
            <a:pPr>
              <a:spcAft>
                <a:spcPts val="1600"/>
              </a:spcAft>
              <a:defRPr sz="1400">
                <a:solidFill>
                  <a:srgbClr val="282D32"/>
                </a:solidFill>
                <a:latin typeface="Aptos"/>
              </a:defRPr>
            </a:pPr>
            <a:r>
              <a:t>[4] Carnegie Mellon University, Constraint Satisfaction Problems / Min-Conflicts teaching material. https://www.cs.cmu.edu/~ggordon/780-spring09/slides/CSPs%2C%20SAT%2C%20FOL%20resolution%20strategies.pdf</a:t>
            </a:r>
          </a:p>
          <a:p>
            <a:pPr>
              <a:spcAft>
                <a:spcPts val="1600"/>
              </a:spcAft>
              <a:defRPr sz="1400">
                <a:solidFill>
                  <a:srgbClr val="282D32"/>
                </a:solidFill>
                <a:latin typeface="Aptos"/>
              </a:defRPr>
            </a:pPr>
            <a:r>
              <a:t>[5] Russell, S. &amp; Norvig, P., Artificial Intelligence: A Modern Approach — CSP, backtracking, heuristics and local search concepts.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5623560"/>
            <a:ext cx="10515600" cy="852805"/>
          </a:xfrm>
          <a:prstGeom prst="roundRect">
            <a:avLst/>
          </a:prstGeom>
          <a:solidFill>
            <a:srgbClr val="FFFFFF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flipH="1">
            <a:off x="796290" y="5623560"/>
            <a:ext cx="76200" cy="829945"/>
          </a:xfrm>
          <a:prstGeom prst="rect">
            <a:avLst/>
          </a:prstGeom>
          <a:solidFill>
            <a:srgbClr val="2C6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5760720"/>
            <a:ext cx="10149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233C"/>
                </a:solidFill>
                <a:latin typeface="Aptos"/>
              </a:defRPr>
            </a:pPr>
            <a:r>
              <a:t>Note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6007609"/>
            <a:ext cx="10149840" cy="182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82D32"/>
                </a:solidFill>
                <a:latin typeface="Aptos"/>
              </a:defRPr>
            </a:pPr>
            <a:r>
              <a:t>Literature survey sources are used to motivate the CSP, propagation, heuristic and local-search components.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519672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8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AICARD_INVALID" val="Invali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7482</Words>
  <Application>WPS Presentation</Application>
  <PresentationFormat>On-screen Show (4:3)</PresentationFormat>
  <Paragraphs>425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6" baseType="lpstr">
      <vt:lpstr>Arial</vt:lpstr>
      <vt:lpstr>SimSun</vt:lpstr>
      <vt:lpstr>Wingdings</vt:lpstr>
      <vt:lpstr>Arial</vt:lpstr>
      <vt:lpstr>Aptos</vt:lpstr>
      <vt:lpstr>Segoe UI</vt:lpstr>
      <vt:lpstr>Aptos Display</vt:lpstr>
      <vt:lpstr>Segoe UI Variable Display</vt:lpstr>
      <vt:lpstr>Times New Roman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bishal</cp:lastModifiedBy>
  <cp:revision>9</cp:revision>
  <dcterms:created xsi:type="dcterms:W3CDTF">2013-01-27T09:14:00Z</dcterms:created>
  <dcterms:modified xsi:type="dcterms:W3CDTF">2026-09-28T10:17:46Z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499962276D5E40F1A769BD18F6FD4224_12</vt:lpwstr>
  </property>
  <property fmtid="{D5CDD505-2E9C-101B-9397-08002B2CF9AE}" pid="3" name="KSOProductBuildVer">
    <vt:lpwstr>1033-12.1.0.28485</vt:lpwstr>
  </property>
</Properties>
</file>